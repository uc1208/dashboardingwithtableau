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2"/>
  </p:notesMasterIdLst>
  <p:sldIdLst>
    <p:sldId id="256" r:id="rId2"/>
    <p:sldId id="257" r:id="rId3"/>
    <p:sldId id="258" r:id="rId4"/>
    <p:sldId id="261" r:id="rId5"/>
    <p:sldId id="259" r:id="rId6"/>
    <p:sldId id="260" r:id="rId7"/>
    <p:sldId id="262" r:id="rId8"/>
    <p:sldId id="263" r:id="rId9"/>
    <p:sldId id="264" r:id="rId10"/>
    <p:sldId id="265" r:id="rId11"/>
  </p:sldIdLst>
  <p:sldSz cx="18288000" cy="10287000"/>
  <p:notesSz cx="6858000" cy="9144000"/>
  <p:embeddedFontLst>
    <p:embeddedFont>
      <p:font typeface="Anton" panose="020B0604020202020204" charset="0"/>
      <p:regular r:id="rId13"/>
    </p:embeddedFont>
    <p:embeddedFont>
      <p:font typeface="Glacial Indifference" panose="020B0604020202020204" charset="0"/>
      <p:regular r:id="rId14"/>
    </p:embeddedFon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4" d="100"/>
          <a:sy n="64" d="100"/>
        </p:scale>
        <p:origin x="68"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7F3E4B-2B9B-4D53-AAB8-CD7121A0176B}" type="datetimeFigureOut">
              <a:rPr lang="en-GB" smtClean="0"/>
              <a:t>31/03/2026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2494C-7CA7-4DEF-BC84-044AF7E05450}" type="slidenum">
              <a:rPr lang="en-GB" smtClean="0"/>
              <a:t>‹#›</a:t>
            </a:fld>
            <a:endParaRPr lang="en-GB"/>
          </a:p>
        </p:txBody>
      </p:sp>
    </p:spTree>
    <p:extLst>
      <p:ext uri="{BB962C8B-B14F-4D97-AF65-F5344CB8AC3E}">
        <p14:creationId xmlns:p14="http://schemas.microsoft.com/office/powerpoint/2010/main" val="5854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502188-CFDE-4B9D-ABE9-C8BD2F4AABEA}" type="datetime1">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099702-5A40-4D7E-8567-CC3F096B9529}" type="datetime1">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23DBB3A-E1BB-4FD6-A45E-99A1892422DF}" type="datetime1">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EBCAA9-01DD-45A2-AD27-5333AAA1C111}" type="datetime1">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F57422-4067-426C-8B36-0E6C0BB0EE4A}" type="datetime1">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CA0879-4CF8-4AAA-BA58-A7381D4FEC4A}" type="datetime1">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2EF74-1952-4871-9A0F-A6123EAF4887}" type="datetime1">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E235F1-E95C-4C2A-AC5E-DB98B3BC2F18}" type="datetime1">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80AACC-EED6-458E-BA26-0F6C5CFAF574}" type="datetime1">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FC7A10-F209-4457-AFDC-CB31DB59E128}" type="datetime1">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D9F594-3C7A-4368-863B-09D8988CBF1C}" type="datetime1">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5709C1-D924-4F26-AAAA-48B208C7A825}" type="datetime1">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public.tableau.com/app/profile/david.nwoye/viz/FreelancerAnalytics/Story1"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6.svg"/><Relationship Id="rId4" Type="http://schemas.openxmlformats.org/officeDocument/2006/relationships/image" Target="../media/image8.png"/><Relationship Id="rId9"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1486622" y="7592423"/>
            <a:ext cx="2207184" cy="2207184"/>
          </a:xfrm>
          <a:custGeom>
            <a:avLst/>
            <a:gdLst/>
            <a:ahLst/>
            <a:cxnLst/>
            <a:rect l="l" t="t" r="r" b="b"/>
            <a:pathLst>
              <a:path w="2207184" h="2207184">
                <a:moveTo>
                  <a:pt x="0" y="0"/>
                </a:moveTo>
                <a:lnTo>
                  <a:pt x="2207184" y="0"/>
                </a:lnTo>
                <a:lnTo>
                  <a:pt x="2207184" y="2207183"/>
                </a:lnTo>
                <a:lnTo>
                  <a:pt x="0" y="220718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485922" y="4544924"/>
            <a:ext cx="2207184" cy="2207184"/>
          </a:xfrm>
          <a:custGeom>
            <a:avLst/>
            <a:gdLst/>
            <a:ahLst/>
            <a:cxnLst/>
            <a:rect l="l" t="t" r="r" b="b"/>
            <a:pathLst>
              <a:path w="2207184" h="2207184">
                <a:moveTo>
                  <a:pt x="0" y="0"/>
                </a:moveTo>
                <a:lnTo>
                  <a:pt x="2207184" y="0"/>
                </a:lnTo>
                <a:lnTo>
                  <a:pt x="2207184" y="2207184"/>
                </a:lnTo>
                <a:lnTo>
                  <a:pt x="0" y="220718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28700" y="2015135"/>
            <a:ext cx="10970477" cy="5577287"/>
          </a:xfrm>
          <a:custGeom>
            <a:avLst/>
            <a:gdLst/>
            <a:ahLst/>
            <a:cxnLst/>
            <a:rect l="l" t="t" r="r" b="b"/>
            <a:pathLst>
              <a:path w="10970477" h="5577287">
                <a:moveTo>
                  <a:pt x="0" y="0"/>
                </a:moveTo>
                <a:lnTo>
                  <a:pt x="10970477" y="0"/>
                </a:lnTo>
                <a:lnTo>
                  <a:pt x="10970477" y="5577288"/>
                </a:lnTo>
                <a:lnTo>
                  <a:pt x="0" y="5577288"/>
                </a:lnTo>
                <a:lnTo>
                  <a:pt x="0" y="0"/>
                </a:lnTo>
                <a:close/>
              </a:path>
            </a:pathLst>
          </a:custGeom>
          <a:blipFill>
            <a:blip r:embed="rId4"/>
            <a:stretch>
              <a:fillRect t="-1848" r="-2568" b="-19202"/>
            </a:stretch>
          </a:blipFill>
        </p:spPr>
      </p:sp>
      <p:sp>
        <p:nvSpPr>
          <p:cNvPr id="5" name="TextBox 5"/>
          <p:cNvSpPr txBox="1"/>
          <p:nvPr/>
        </p:nvSpPr>
        <p:spPr>
          <a:xfrm>
            <a:off x="1212213" y="339122"/>
            <a:ext cx="9973403" cy="1236280"/>
          </a:xfrm>
          <a:prstGeom prst="rect">
            <a:avLst/>
          </a:prstGeom>
        </p:spPr>
        <p:txBody>
          <a:bodyPr lIns="0" tIns="0" rIns="0" bIns="0" rtlCol="0" anchor="t">
            <a:spAutoFit/>
          </a:bodyPr>
          <a:lstStyle/>
          <a:p>
            <a:pPr algn="l">
              <a:lnSpc>
                <a:spcPts val="10083"/>
              </a:lnSpc>
              <a:spcBef>
                <a:spcPct val="0"/>
              </a:spcBef>
            </a:pPr>
            <a:r>
              <a:rPr lang="en-US" sz="7202">
                <a:solidFill>
                  <a:srgbClr val="112C16"/>
                </a:solidFill>
                <a:latin typeface="Anton"/>
                <a:ea typeface="Anton"/>
                <a:cs typeface="Anton"/>
                <a:sym typeface="Anton"/>
              </a:rPr>
              <a:t>Analyzing the Gig Economy</a:t>
            </a:r>
          </a:p>
        </p:txBody>
      </p:sp>
      <p:sp>
        <p:nvSpPr>
          <p:cNvPr id="6" name="TextBox 6"/>
          <p:cNvSpPr txBox="1"/>
          <p:nvPr/>
        </p:nvSpPr>
        <p:spPr>
          <a:xfrm>
            <a:off x="12684357" y="8088130"/>
            <a:ext cx="5349557" cy="1179810"/>
          </a:xfrm>
          <a:prstGeom prst="rect">
            <a:avLst/>
          </a:prstGeom>
        </p:spPr>
        <p:txBody>
          <a:bodyPr lIns="0" tIns="0" rIns="0" bIns="0" rtlCol="0" anchor="t">
            <a:spAutoFit/>
          </a:bodyPr>
          <a:lstStyle/>
          <a:p>
            <a:pPr algn="l">
              <a:lnSpc>
                <a:spcPts val="4583"/>
              </a:lnSpc>
            </a:pPr>
            <a:r>
              <a:rPr lang="en-US" sz="3274" dirty="0" smtClean="0">
                <a:solidFill>
                  <a:srgbClr val="112C16"/>
                </a:solidFill>
                <a:latin typeface="Glacial Indifference"/>
                <a:ea typeface="Glacial Indifference"/>
                <a:cs typeface="Glacial Indifference"/>
                <a:sym typeface="Glacial Indifference"/>
              </a:rPr>
              <a:t>By David Nwoye</a:t>
            </a:r>
            <a:endParaRPr lang="en-US" sz="3274" dirty="0">
              <a:solidFill>
                <a:srgbClr val="112C16"/>
              </a:solidFill>
              <a:latin typeface="Glacial Indifference"/>
              <a:ea typeface="Glacial Indifference"/>
              <a:cs typeface="Glacial Indifference"/>
              <a:sym typeface="Glacial Indifference"/>
            </a:endParaRPr>
          </a:p>
          <a:p>
            <a:pPr algn="l">
              <a:lnSpc>
                <a:spcPts val="4583"/>
              </a:lnSpc>
              <a:spcBef>
                <a:spcPct val="0"/>
              </a:spcBef>
            </a:pPr>
            <a:r>
              <a:rPr lang="en-US" sz="3274" dirty="0">
                <a:solidFill>
                  <a:srgbClr val="112C16"/>
                </a:solidFill>
                <a:latin typeface="Glacial Indifference"/>
                <a:ea typeface="Glacial Indifference"/>
                <a:cs typeface="Glacial Indifference"/>
                <a:sym typeface="Glacial Indifference"/>
              </a:rPr>
              <a:t>Date: 21.03.2026</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609600" y="4953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295400" y="616560"/>
            <a:ext cx="12688898" cy="1094740"/>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Introduction </a:t>
            </a:r>
          </a:p>
        </p:txBody>
      </p:sp>
      <p:sp>
        <p:nvSpPr>
          <p:cNvPr id="6" name="TextBox 6"/>
          <p:cNvSpPr txBox="1"/>
          <p:nvPr/>
        </p:nvSpPr>
        <p:spPr>
          <a:xfrm>
            <a:off x="1028700" y="3269041"/>
            <a:ext cx="14427018" cy="4013525"/>
          </a:xfrm>
          <a:prstGeom prst="rect">
            <a:avLst/>
          </a:prstGeom>
        </p:spPr>
        <p:txBody>
          <a:bodyPr lIns="0" tIns="0" rIns="0" bIns="0" rtlCol="0" anchor="t">
            <a:spAutoFit/>
          </a:bodyPr>
          <a:lstStyle/>
          <a:p>
            <a:pPr algn="just">
              <a:lnSpc>
                <a:spcPts val="4569"/>
              </a:lnSpc>
            </a:pPr>
            <a:r>
              <a:rPr lang="en-US" sz="3263" dirty="0">
                <a:solidFill>
                  <a:srgbClr val="112C16"/>
                </a:solidFill>
                <a:latin typeface="Glacial Indifference"/>
                <a:ea typeface="Glacial Indifference"/>
                <a:cs typeface="Glacial Indifference"/>
                <a:sym typeface="Glacial Indifference"/>
              </a:rPr>
              <a:t>The Gig economy has led to the transformation of the modern-day labor market, enabling flexible, short-term, and freelance jobs on various digital platforms. This project presents a comprehensive analysis of key factors such as success rate, freelancer earnings, and market trends and their influence on decision-making in the gig ecosystem. The goal is to assist businesses, freelancers and policymakers to make data-driven decisions.</a:t>
            </a:r>
          </a:p>
          <a:p>
            <a:pPr algn="just">
              <a:lnSpc>
                <a:spcPts val="4569"/>
              </a:lnSpc>
            </a:pPr>
            <a:endParaRPr lang="en-US" sz="3263" dirty="0">
              <a:solidFill>
                <a:srgbClr val="112C16"/>
              </a:solidFill>
              <a:latin typeface="Glacial Indifference"/>
              <a:ea typeface="Glacial Indifference"/>
              <a:cs typeface="Glacial Indifference"/>
              <a:sym typeface="Glacial Indifference"/>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381000" y="351565"/>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08822" y="472825"/>
            <a:ext cx="12688898" cy="1094740"/>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Problem Statement</a:t>
            </a:r>
          </a:p>
        </p:txBody>
      </p:sp>
      <p:sp>
        <p:nvSpPr>
          <p:cNvPr id="6" name="TextBox 6"/>
          <p:cNvSpPr txBox="1"/>
          <p:nvPr/>
        </p:nvSpPr>
        <p:spPr>
          <a:xfrm>
            <a:off x="846288" y="2476500"/>
            <a:ext cx="13013966" cy="4626562"/>
          </a:xfrm>
          <a:prstGeom prst="rect">
            <a:avLst/>
          </a:prstGeom>
        </p:spPr>
        <p:txBody>
          <a:bodyPr lIns="0" tIns="0" rIns="0" bIns="0" rtlCol="0" anchor="t">
            <a:spAutoFit/>
          </a:bodyPr>
          <a:lstStyle/>
          <a:p>
            <a:pPr algn="just">
              <a:lnSpc>
                <a:spcPts val="4607"/>
              </a:lnSpc>
            </a:pPr>
            <a:r>
              <a:rPr lang="en-US" sz="3290" dirty="0">
                <a:solidFill>
                  <a:srgbClr val="112C16"/>
                </a:solidFill>
                <a:latin typeface="Glacial Indifference"/>
                <a:ea typeface="Glacial Indifference"/>
                <a:cs typeface="Glacial Indifference"/>
                <a:sym typeface="Glacial Indifference"/>
              </a:rPr>
              <a:t>Over the years, the gig economy has shown continuous rapid growth, with freelancers and businesses searching for ways to minimize costs and maximize their profits on various platforms. Such situations often create challenges for the clients and freelancers, whereby they are unable to accurately forecast earnings, job success rate, and skills demand. Hence, it is essential to provide data-driven insights to predict earnings and job trends in order to properly guide both parties and make informed decisions.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533400" y="41943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003881" y="7322072"/>
            <a:ext cx="2593405" cy="2458405"/>
          </a:xfrm>
          <a:custGeom>
            <a:avLst/>
            <a:gdLst/>
            <a:ahLst/>
            <a:cxnLst/>
            <a:rect l="l" t="t" r="r" b="b"/>
            <a:pathLst>
              <a:path w="2593405" h="2458405">
                <a:moveTo>
                  <a:pt x="0" y="0"/>
                </a:moveTo>
                <a:lnTo>
                  <a:pt x="2593404" y="0"/>
                </a:lnTo>
                <a:lnTo>
                  <a:pt x="2593404" y="2458405"/>
                </a:lnTo>
                <a:lnTo>
                  <a:pt x="0" y="245840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649357" y="481268"/>
            <a:ext cx="13429657" cy="1154162"/>
          </a:xfrm>
          <a:prstGeom prst="rect">
            <a:avLst/>
          </a:prstGeom>
        </p:spPr>
        <p:txBody>
          <a:bodyPr wrap="square"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Data Cleaning </a:t>
            </a:r>
            <a:r>
              <a:rPr lang="en-US" sz="6399" dirty="0" smtClean="0">
                <a:solidFill>
                  <a:srgbClr val="F1F0E7"/>
                </a:solidFill>
                <a:latin typeface="Anton"/>
                <a:ea typeface="Anton"/>
                <a:cs typeface="Anton"/>
                <a:sym typeface="Anton"/>
              </a:rPr>
              <a:t>&amp; preprocessing</a:t>
            </a:r>
            <a:endParaRPr lang="en-US" sz="6399" dirty="0">
              <a:solidFill>
                <a:srgbClr val="F1F0E7"/>
              </a:solidFill>
              <a:latin typeface="Anton"/>
              <a:ea typeface="Anton"/>
              <a:cs typeface="Anton"/>
              <a:sym typeface="Anton"/>
            </a:endParaRPr>
          </a:p>
        </p:txBody>
      </p:sp>
      <p:sp>
        <p:nvSpPr>
          <p:cNvPr id="7" name="TextBox 7"/>
          <p:cNvSpPr txBox="1"/>
          <p:nvPr/>
        </p:nvSpPr>
        <p:spPr>
          <a:xfrm>
            <a:off x="549965" y="1409700"/>
            <a:ext cx="12801600" cy="10806869"/>
          </a:xfrm>
          <a:prstGeom prst="rect">
            <a:avLst/>
          </a:prstGeom>
        </p:spPr>
        <p:txBody>
          <a:bodyPr wrap="square" lIns="0" tIns="0" rIns="0" bIns="0" rtlCol="0" anchor="t">
            <a:spAutoFit/>
          </a:bodyPr>
          <a:lstStyle/>
          <a:p>
            <a:pPr algn="just">
              <a:lnSpc>
                <a:spcPts val="4734"/>
              </a:lnSpc>
            </a:pPr>
            <a:endParaRPr dirty="0"/>
          </a:p>
          <a:p>
            <a:pPr marL="730100" lvl="1" indent="-365050" algn="just">
              <a:lnSpc>
                <a:spcPts val="4734"/>
              </a:lnSpc>
              <a:buFont typeface="Arial"/>
              <a:buChar char="•"/>
            </a:pPr>
            <a:r>
              <a:rPr lang="en-US" sz="3381" dirty="0" smtClean="0">
                <a:solidFill>
                  <a:srgbClr val="112C16"/>
                </a:solidFill>
                <a:latin typeface="Glacial Indifference"/>
                <a:ea typeface="Glacial Indifference"/>
                <a:cs typeface="Glacial Indifference"/>
                <a:sym typeface="Glacial Indifference"/>
              </a:rPr>
              <a:t>We were provided with two </a:t>
            </a:r>
            <a:r>
              <a:rPr lang="en-US" sz="3381" dirty="0" smtClean="0">
                <a:solidFill>
                  <a:srgbClr val="112C16"/>
                </a:solidFill>
                <a:latin typeface="Glacial Indifference"/>
                <a:ea typeface="Glacial Indifference"/>
                <a:cs typeface="Glacial Indifference"/>
                <a:sym typeface="Glacial Indifference"/>
              </a:rPr>
              <a:t>Excel tables</a:t>
            </a:r>
          </a:p>
          <a:p>
            <a:pPr marL="1187300" lvl="2" indent="-365050" algn="just">
              <a:lnSpc>
                <a:spcPts val="4734"/>
              </a:lnSpc>
              <a:buFont typeface="Arial"/>
              <a:buChar char="•"/>
            </a:pPr>
            <a:r>
              <a:rPr lang="en-US" sz="3381" dirty="0" smtClean="0">
                <a:solidFill>
                  <a:srgbClr val="112C16"/>
                </a:solidFill>
                <a:latin typeface="Glacial Indifference"/>
                <a:ea typeface="Glacial Indifference"/>
                <a:cs typeface="Glacial Indifference"/>
                <a:sym typeface="Glacial Indifference"/>
              </a:rPr>
              <a:t>Freelancer earnings</a:t>
            </a:r>
          </a:p>
          <a:p>
            <a:pPr marL="1187300" lvl="2" indent="-365050" algn="just">
              <a:lnSpc>
                <a:spcPts val="4734"/>
              </a:lnSpc>
              <a:buFont typeface="Arial"/>
              <a:buChar char="•"/>
            </a:pPr>
            <a:r>
              <a:rPr lang="en-US" sz="3381" dirty="0" smtClean="0">
                <a:solidFill>
                  <a:srgbClr val="112C16"/>
                </a:solidFill>
                <a:latin typeface="Glacial Indifference"/>
                <a:ea typeface="Glacial Indifference"/>
                <a:cs typeface="Glacial Indifference"/>
                <a:sym typeface="Glacial Indifference"/>
              </a:rPr>
              <a:t>Freelancer details</a:t>
            </a:r>
          </a:p>
          <a:p>
            <a:pPr marL="730100" lvl="1" indent="-365050" algn="just">
              <a:lnSpc>
                <a:spcPts val="4734"/>
              </a:lnSpc>
              <a:buFont typeface="Arial"/>
              <a:buChar char="•"/>
            </a:pPr>
            <a:endParaRPr lang="en-US" sz="3381" dirty="0" smtClean="0">
              <a:solidFill>
                <a:srgbClr val="112C16"/>
              </a:solidFill>
              <a:latin typeface="Glacial Indifference"/>
              <a:ea typeface="Glacial Indifference"/>
              <a:cs typeface="Glacial Indifference"/>
              <a:sym typeface="Glacial Indifference"/>
            </a:endParaRPr>
          </a:p>
          <a:p>
            <a:pPr marL="730100" lvl="1" indent="-365050" algn="just">
              <a:lnSpc>
                <a:spcPts val="4734"/>
              </a:lnSpc>
              <a:buFont typeface="Arial"/>
              <a:buChar char="•"/>
            </a:pPr>
            <a:r>
              <a:rPr lang="en-US" sz="3381" dirty="0" smtClean="0">
                <a:solidFill>
                  <a:srgbClr val="112C16"/>
                </a:solidFill>
                <a:latin typeface="Glacial Indifference"/>
                <a:ea typeface="Glacial Indifference"/>
                <a:cs typeface="Glacial Indifference"/>
                <a:sym typeface="Glacial Indifference"/>
              </a:rPr>
              <a:t>We </a:t>
            </a:r>
            <a:r>
              <a:rPr lang="en-US" sz="3381" dirty="0">
                <a:solidFill>
                  <a:srgbClr val="112C16"/>
                </a:solidFill>
                <a:latin typeface="Glacial Indifference"/>
                <a:ea typeface="Glacial Indifference"/>
                <a:cs typeface="Glacial Indifference"/>
                <a:sym typeface="Glacial Indifference"/>
              </a:rPr>
              <a:t>checked </a:t>
            </a:r>
            <a:r>
              <a:rPr lang="en-US" sz="3381" dirty="0" smtClean="0">
                <a:solidFill>
                  <a:srgbClr val="112C16"/>
                </a:solidFill>
                <a:latin typeface="Glacial Indifference"/>
                <a:ea typeface="Glacial Indifference"/>
                <a:cs typeface="Glacial Indifference"/>
                <a:sym typeface="Glacial Indifference"/>
              </a:rPr>
              <a:t>the data </a:t>
            </a:r>
            <a:r>
              <a:rPr lang="en-US" sz="3381" dirty="0">
                <a:solidFill>
                  <a:srgbClr val="112C16"/>
                </a:solidFill>
                <a:latin typeface="Glacial Indifference"/>
                <a:ea typeface="Glacial Indifference"/>
                <a:cs typeface="Glacial Indifference"/>
                <a:sym typeface="Glacial Indifference"/>
              </a:rPr>
              <a:t>for duplicates and </a:t>
            </a:r>
            <a:r>
              <a:rPr lang="en-US" sz="3381" dirty="0" smtClean="0">
                <a:solidFill>
                  <a:srgbClr val="112C16"/>
                </a:solidFill>
                <a:latin typeface="Glacial Indifference"/>
                <a:ea typeface="Glacial Indifference"/>
                <a:cs typeface="Glacial Indifference"/>
                <a:sym typeface="Glacial Indifference"/>
              </a:rPr>
              <a:t>errors, but </a:t>
            </a:r>
            <a:r>
              <a:rPr lang="en-US" sz="3381" dirty="0" smtClean="0">
                <a:solidFill>
                  <a:srgbClr val="112C16"/>
                </a:solidFill>
                <a:latin typeface="Glacial Indifference"/>
                <a:ea typeface="Glacial Indifference"/>
                <a:cs typeface="Glacial Indifference"/>
                <a:sym typeface="Glacial Indifference"/>
              </a:rPr>
              <a:t>non-existent.</a:t>
            </a: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marL="730100" lvl="1" indent="-365050" algn="just">
              <a:lnSpc>
                <a:spcPts val="4734"/>
              </a:lnSpc>
              <a:buFont typeface="Arial"/>
              <a:buChar char="•"/>
            </a:pPr>
            <a:r>
              <a:rPr lang="en-US" sz="3381" dirty="0">
                <a:solidFill>
                  <a:srgbClr val="112C16"/>
                </a:solidFill>
                <a:latin typeface="Glacial Indifference"/>
                <a:ea typeface="Glacial Indifference"/>
                <a:cs typeface="Glacial Indifference"/>
                <a:sym typeface="Glacial Indifference"/>
              </a:rPr>
              <a:t>Ensured that each </a:t>
            </a:r>
            <a:r>
              <a:rPr lang="en-US" sz="3381" dirty="0" smtClean="0">
                <a:solidFill>
                  <a:srgbClr val="112C16"/>
                </a:solidFill>
                <a:latin typeface="Glacial Indifference"/>
                <a:ea typeface="Glacial Indifference"/>
                <a:cs typeface="Glacial Indifference"/>
                <a:sym typeface="Glacial Indifference"/>
              </a:rPr>
              <a:t>column has the </a:t>
            </a:r>
            <a:r>
              <a:rPr lang="en-US" sz="3381" dirty="0">
                <a:solidFill>
                  <a:srgbClr val="112C16"/>
                </a:solidFill>
                <a:latin typeface="Glacial Indifference"/>
                <a:ea typeface="Glacial Indifference"/>
                <a:cs typeface="Glacial Indifference"/>
                <a:sym typeface="Glacial Indifference"/>
              </a:rPr>
              <a:t>right data type</a:t>
            </a:r>
            <a:r>
              <a:rPr lang="en-US" sz="3381" dirty="0" smtClean="0">
                <a:solidFill>
                  <a:srgbClr val="112C16"/>
                </a:solidFill>
                <a:latin typeface="Glacial Indifference"/>
                <a:ea typeface="Glacial Indifference"/>
                <a:cs typeface="Glacial Indifference"/>
                <a:sym typeface="Glacial Indifference"/>
              </a:rPr>
              <a:t>.</a:t>
            </a:r>
          </a:p>
          <a:p>
            <a:pPr marL="730100" lvl="1" indent="-365050" algn="just">
              <a:lnSpc>
                <a:spcPts val="4734"/>
              </a:lnSpc>
              <a:buFont typeface="Arial"/>
              <a:buChar char="•"/>
            </a:pPr>
            <a:endParaRPr lang="en-US" sz="3381" dirty="0">
              <a:solidFill>
                <a:srgbClr val="112C16"/>
              </a:solidFill>
              <a:latin typeface="Glacial Indifference"/>
              <a:ea typeface="Glacial Indifference"/>
              <a:cs typeface="Glacial Indifference"/>
              <a:sym typeface="Glacial Indifference"/>
            </a:endParaRPr>
          </a:p>
          <a:p>
            <a:pPr marL="730100" lvl="1" indent="-365050" algn="just">
              <a:lnSpc>
                <a:spcPts val="4734"/>
              </a:lnSpc>
              <a:buFont typeface="Arial"/>
              <a:buChar char="•"/>
            </a:pPr>
            <a:r>
              <a:rPr lang="en-US" sz="3381" dirty="0" smtClean="0">
                <a:solidFill>
                  <a:srgbClr val="112C16"/>
                </a:solidFill>
                <a:latin typeface="Glacial Indifference"/>
                <a:ea typeface="Glacial Indifference"/>
                <a:cs typeface="Glacial Indifference"/>
                <a:sym typeface="Glacial Indifference"/>
              </a:rPr>
              <a:t>Used inner-join to connect both data in Tableau with their common key Freelance ID.</a:t>
            </a:r>
            <a:endParaRPr lang="en-US" sz="3381" dirty="0" smtClean="0">
              <a:solidFill>
                <a:srgbClr val="112C16"/>
              </a:solidFill>
              <a:latin typeface="Glacial Indifference"/>
              <a:ea typeface="Glacial Indifference"/>
              <a:cs typeface="Glacial Indifference"/>
              <a:sym typeface="Glacial Indifference"/>
            </a:endParaRPr>
          </a:p>
          <a:p>
            <a:pPr marL="730100" lvl="1" indent="-365050" algn="just">
              <a:lnSpc>
                <a:spcPts val="4734"/>
              </a:lnSpc>
              <a:buFont typeface="Arial"/>
              <a:buChar char="•"/>
            </a:pPr>
            <a:endParaRPr lang="en-US" sz="3381" dirty="0">
              <a:solidFill>
                <a:srgbClr val="112C16"/>
              </a:solidFill>
              <a:latin typeface="Glacial Indifference"/>
              <a:ea typeface="Glacial Indifference"/>
              <a:cs typeface="Glacial Indifference"/>
              <a:sym typeface="Glacial Indifference"/>
            </a:endParaRPr>
          </a:p>
          <a:p>
            <a:pPr marL="365050" lvl="1"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a:p>
            <a:pPr algn="just">
              <a:lnSpc>
                <a:spcPts val="4734"/>
              </a:lnSpc>
            </a:pPr>
            <a:endParaRPr lang="en-US" sz="3381" dirty="0">
              <a:solidFill>
                <a:srgbClr val="112C16"/>
              </a:solidFill>
              <a:latin typeface="Glacial Indifference"/>
              <a:ea typeface="Glacial Indifference"/>
              <a:cs typeface="Glacial Indifference"/>
              <a:sym typeface="Glacial Indifference"/>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649038" y="468064"/>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45059" y="2146736"/>
            <a:ext cx="4677153" cy="2789088"/>
            <a:chOff x="0" y="0"/>
            <a:chExt cx="1231843" cy="734575"/>
          </a:xfrm>
        </p:grpSpPr>
        <p:sp>
          <p:nvSpPr>
            <p:cNvPr id="6" name="Freeform 6"/>
            <p:cNvSpPr/>
            <p:nvPr/>
          </p:nvSpPr>
          <p:spPr>
            <a:xfrm>
              <a:off x="0" y="0"/>
              <a:ext cx="1231843" cy="734575"/>
            </a:xfrm>
            <a:custGeom>
              <a:avLst/>
              <a:gdLst/>
              <a:ahLst/>
              <a:cxnLst/>
              <a:rect l="l" t="t" r="r" b="b"/>
              <a:pathLst>
                <a:path w="1231843" h="734575">
                  <a:moveTo>
                    <a:pt x="84418" y="0"/>
                  </a:moveTo>
                  <a:lnTo>
                    <a:pt x="1147424" y="0"/>
                  </a:lnTo>
                  <a:cubicBezTo>
                    <a:pt x="1194047" y="0"/>
                    <a:pt x="1231843" y="37795"/>
                    <a:pt x="1231843" y="84418"/>
                  </a:cubicBezTo>
                  <a:lnTo>
                    <a:pt x="1231843" y="650156"/>
                  </a:lnTo>
                  <a:cubicBezTo>
                    <a:pt x="1231843" y="696779"/>
                    <a:pt x="1194047" y="734575"/>
                    <a:pt x="1147424" y="734575"/>
                  </a:cubicBezTo>
                  <a:lnTo>
                    <a:pt x="84418" y="734575"/>
                  </a:lnTo>
                  <a:cubicBezTo>
                    <a:pt x="37795" y="734575"/>
                    <a:pt x="0" y="696779"/>
                    <a:pt x="0" y="650156"/>
                  </a:cubicBezTo>
                  <a:lnTo>
                    <a:pt x="0" y="84418"/>
                  </a:lnTo>
                  <a:cubicBezTo>
                    <a:pt x="0" y="37795"/>
                    <a:pt x="37795" y="0"/>
                    <a:pt x="84418" y="0"/>
                  </a:cubicBezTo>
                  <a:close/>
                </a:path>
              </a:pathLst>
            </a:custGeom>
            <a:ln w="47625" cap="rnd">
              <a:solidFill>
                <a:srgbClr val="112C16"/>
              </a:solidFill>
              <a:prstDash val="solid"/>
              <a:round/>
            </a:ln>
          </p:spPr>
        </p:sp>
        <p:sp>
          <p:nvSpPr>
            <p:cNvPr id="7" name="TextBox 7"/>
            <p:cNvSpPr txBox="1"/>
            <p:nvPr/>
          </p:nvSpPr>
          <p:spPr>
            <a:xfrm>
              <a:off x="0" y="-66675"/>
              <a:ext cx="1231843" cy="801250"/>
            </a:xfrm>
            <a:prstGeom prst="rect">
              <a:avLst/>
            </a:prstGeom>
          </p:spPr>
          <p:txBody>
            <a:bodyPr lIns="50800" tIns="50800" rIns="50800" bIns="50800" rtlCol="0" anchor="ctr"/>
            <a:lstStyle/>
            <a:p>
              <a:pPr algn="ctr">
                <a:lnSpc>
                  <a:spcPts val="5040"/>
                </a:lnSpc>
              </a:pPr>
              <a:endParaRPr/>
            </a:p>
          </p:txBody>
        </p:sp>
      </p:grpSp>
      <p:grpSp>
        <p:nvGrpSpPr>
          <p:cNvPr id="8" name="Group 8"/>
          <p:cNvGrpSpPr/>
          <p:nvPr/>
        </p:nvGrpSpPr>
        <p:grpSpPr>
          <a:xfrm>
            <a:off x="881782" y="6264505"/>
            <a:ext cx="4803707" cy="2774412"/>
            <a:chOff x="0" y="0"/>
            <a:chExt cx="1265174" cy="730709"/>
          </a:xfrm>
        </p:grpSpPr>
        <p:sp>
          <p:nvSpPr>
            <p:cNvPr id="9" name="Freeform 9"/>
            <p:cNvSpPr/>
            <p:nvPr/>
          </p:nvSpPr>
          <p:spPr>
            <a:xfrm>
              <a:off x="0" y="0"/>
              <a:ext cx="1265174" cy="730709"/>
            </a:xfrm>
            <a:custGeom>
              <a:avLst/>
              <a:gdLst/>
              <a:ahLst/>
              <a:cxnLst/>
              <a:rect l="l" t="t" r="r" b="b"/>
              <a:pathLst>
                <a:path w="1265174" h="730709">
                  <a:moveTo>
                    <a:pt x="82194" y="0"/>
                  </a:moveTo>
                  <a:lnTo>
                    <a:pt x="1182979" y="0"/>
                  </a:lnTo>
                  <a:cubicBezTo>
                    <a:pt x="1228374" y="0"/>
                    <a:pt x="1265174" y="36800"/>
                    <a:pt x="1265174" y="82194"/>
                  </a:cubicBezTo>
                  <a:lnTo>
                    <a:pt x="1265174" y="648515"/>
                  </a:lnTo>
                  <a:cubicBezTo>
                    <a:pt x="1265174" y="693910"/>
                    <a:pt x="1228374" y="730709"/>
                    <a:pt x="1182979" y="730709"/>
                  </a:cubicBezTo>
                  <a:lnTo>
                    <a:pt x="82194" y="730709"/>
                  </a:lnTo>
                  <a:cubicBezTo>
                    <a:pt x="36800" y="730709"/>
                    <a:pt x="0" y="693910"/>
                    <a:pt x="0" y="648515"/>
                  </a:cubicBezTo>
                  <a:lnTo>
                    <a:pt x="0" y="82194"/>
                  </a:lnTo>
                  <a:cubicBezTo>
                    <a:pt x="0" y="36800"/>
                    <a:pt x="36800" y="0"/>
                    <a:pt x="82194" y="0"/>
                  </a:cubicBezTo>
                  <a:close/>
                </a:path>
              </a:pathLst>
            </a:custGeom>
            <a:ln w="47625" cap="rnd">
              <a:solidFill>
                <a:srgbClr val="112C16"/>
              </a:solidFill>
              <a:prstDash val="solid"/>
              <a:round/>
            </a:ln>
          </p:spPr>
        </p:sp>
        <p:sp>
          <p:nvSpPr>
            <p:cNvPr id="10" name="TextBox 10"/>
            <p:cNvSpPr txBox="1"/>
            <p:nvPr/>
          </p:nvSpPr>
          <p:spPr>
            <a:xfrm>
              <a:off x="0" y="-66675"/>
              <a:ext cx="1265174" cy="797384"/>
            </a:xfrm>
            <a:prstGeom prst="rect">
              <a:avLst/>
            </a:prstGeom>
          </p:spPr>
          <p:txBody>
            <a:bodyPr lIns="50800" tIns="50800" rIns="50800" bIns="50800" rtlCol="0" anchor="ctr"/>
            <a:lstStyle/>
            <a:p>
              <a:pPr algn="ctr">
                <a:lnSpc>
                  <a:spcPts val="5040"/>
                </a:lnSpc>
              </a:pPr>
              <a:endParaRPr/>
            </a:p>
          </p:txBody>
        </p:sp>
      </p:grpSp>
      <p:grpSp>
        <p:nvGrpSpPr>
          <p:cNvPr id="11" name="Group 11"/>
          <p:cNvGrpSpPr/>
          <p:nvPr/>
        </p:nvGrpSpPr>
        <p:grpSpPr>
          <a:xfrm>
            <a:off x="8507041" y="6264505"/>
            <a:ext cx="4592885" cy="2774412"/>
            <a:chOff x="0" y="0"/>
            <a:chExt cx="1209649" cy="730709"/>
          </a:xfrm>
        </p:grpSpPr>
        <p:sp>
          <p:nvSpPr>
            <p:cNvPr id="12" name="Freeform 12"/>
            <p:cNvSpPr/>
            <p:nvPr/>
          </p:nvSpPr>
          <p:spPr>
            <a:xfrm>
              <a:off x="0" y="0"/>
              <a:ext cx="1209649" cy="730709"/>
            </a:xfrm>
            <a:custGeom>
              <a:avLst/>
              <a:gdLst/>
              <a:ahLst/>
              <a:cxnLst/>
              <a:rect l="l" t="t" r="r" b="b"/>
              <a:pathLst>
                <a:path w="1209649" h="730709">
                  <a:moveTo>
                    <a:pt x="85967" y="0"/>
                  </a:moveTo>
                  <a:lnTo>
                    <a:pt x="1123681" y="0"/>
                  </a:lnTo>
                  <a:cubicBezTo>
                    <a:pt x="1171160" y="0"/>
                    <a:pt x="1209649" y="38489"/>
                    <a:pt x="1209649" y="85967"/>
                  </a:cubicBezTo>
                  <a:lnTo>
                    <a:pt x="1209649" y="644742"/>
                  </a:lnTo>
                  <a:cubicBezTo>
                    <a:pt x="1209649" y="692220"/>
                    <a:pt x="1171160" y="730709"/>
                    <a:pt x="1123681" y="730709"/>
                  </a:cubicBezTo>
                  <a:lnTo>
                    <a:pt x="85967" y="730709"/>
                  </a:lnTo>
                  <a:cubicBezTo>
                    <a:pt x="38489" y="730709"/>
                    <a:pt x="0" y="692220"/>
                    <a:pt x="0" y="644742"/>
                  </a:cubicBezTo>
                  <a:lnTo>
                    <a:pt x="0" y="85967"/>
                  </a:lnTo>
                  <a:cubicBezTo>
                    <a:pt x="0" y="38489"/>
                    <a:pt x="38489" y="0"/>
                    <a:pt x="85967" y="0"/>
                  </a:cubicBezTo>
                  <a:close/>
                </a:path>
              </a:pathLst>
            </a:custGeom>
            <a:ln w="47625" cap="rnd">
              <a:solidFill>
                <a:srgbClr val="112C16"/>
              </a:solidFill>
              <a:prstDash val="solid"/>
              <a:round/>
            </a:ln>
          </p:spPr>
        </p:sp>
        <p:sp>
          <p:nvSpPr>
            <p:cNvPr id="13" name="TextBox 13"/>
            <p:cNvSpPr txBox="1"/>
            <p:nvPr/>
          </p:nvSpPr>
          <p:spPr>
            <a:xfrm>
              <a:off x="0" y="-66675"/>
              <a:ext cx="1209649" cy="797384"/>
            </a:xfrm>
            <a:prstGeom prst="rect">
              <a:avLst/>
            </a:prstGeom>
          </p:spPr>
          <p:txBody>
            <a:bodyPr lIns="50800" tIns="50800" rIns="50800" bIns="50800" rtlCol="0" anchor="ctr"/>
            <a:lstStyle/>
            <a:p>
              <a:pPr algn="ctr">
                <a:lnSpc>
                  <a:spcPts val="5040"/>
                </a:lnSpc>
              </a:pPr>
              <a:endParaRPr/>
            </a:p>
          </p:txBody>
        </p:sp>
      </p:grpSp>
      <p:grpSp>
        <p:nvGrpSpPr>
          <p:cNvPr id="14" name="Group 14"/>
          <p:cNvGrpSpPr/>
          <p:nvPr/>
        </p:nvGrpSpPr>
        <p:grpSpPr>
          <a:xfrm>
            <a:off x="8313864" y="2146736"/>
            <a:ext cx="4786062" cy="2789088"/>
            <a:chOff x="0" y="0"/>
            <a:chExt cx="1260527" cy="734575"/>
          </a:xfrm>
        </p:grpSpPr>
        <p:sp>
          <p:nvSpPr>
            <p:cNvPr id="15" name="Freeform 15"/>
            <p:cNvSpPr/>
            <p:nvPr/>
          </p:nvSpPr>
          <p:spPr>
            <a:xfrm>
              <a:off x="0" y="0"/>
              <a:ext cx="1260527" cy="734575"/>
            </a:xfrm>
            <a:custGeom>
              <a:avLst/>
              <a:gdLst/>
              <a:ahLst/>
              <a:cxnLst/>
              <a:rect l="l" t="t" r="r" b="b"/>
              <a:pathLst>
                <a:path w="1260527" h="734575">
                  <a:moveTo>
                    <a:pt x="82497" y="0"/>
                  </a:moveTo>
                  <a:lnTo>
                    <a:pt x="1178029" y="0"/>
                  </a:lnTo>
                  <a:cubicBezTo>
                    <a:pt x="1199909" y="0"/>
                    <a:pt x="1220892" y="8692"/>
                    <a:pt x="1236364" y="24163"/>
                  </a:cubicBezTo>
                  <a:cubicBezTo>
                    <a:pt x="1251835" y="39634"/>
                    <a:pt x="1260527" y="60618"/>
                    <a:pt x="1260527" y="82497"/>
                  </a:cubicBezTo>
                  <a:lnTo>
                    <a:pt x="1260527" y="652077"/>
                  </a:lnTo>
                  <a:cubicBezTo>
                    <a:pt x="1260527" y="673957"/>
                    <a:pt x="1251835" y="694940"/>
                    <a:pt x="1236364" y="710412"/>
                  </a:cubicBezTo>
                  <a:cubicBezTo>
                    <a:pt x="1220892" y="725883"/>
                    <a:pt x="1199909" y="734575"/>
                    <a:pt x="1178029" y="734575"/>
                  </a:cubicBezTo>
                  <a:lnTo>
                    <a:pt x="82497" y="734575"/>
                  </a:lnTo>
                  <a:cubicBezTo>
                    <a:pt x="60618" y="734575"/>
                    <a:pt x="39634" y="725883"/>
                    <a:pt x="24163" y="710412"/>
                  </a:cubicBezTo>
                  <a:cubicBezTo>
                    <a:pt x="8692" y="694940"/>
                    <a:pt x="0" y="673957"/>
                    <a:pt x="0" y="652077"/>
                  </a:cubicBezTo>
                  <a:lnTo>
                    <a:pt x="0" y="82497"/>
                  </a:lnTo>
                  <a:cubicBezTo>
                    <a:pt x="0" y="60618"/>
                    <a:pt x="8692" y="39634"/>
                    <a:pt x="24163" y="24163"/>
                  </a:cubicBezTo>
                  <a:cubicBezTo>
                    <a:pt x="39634" y="8692"/>
                    <a:pt x="60618" y="0"/>
                    <a:pt x="82497" y="0"/>
                  </a:cubicBezTo>
                  <a:close/>
                </a:path>
              </a:pathLst>
            </a:custGeom>
            <a:ln w="47625" cap="rnd">
              <a:solidFill>
                <a:srgbClr val="112C16"/>
              </a:solidFill>
              <a:prstDash val="solid"/>
              <a:round/>
            </a:ln>
          </p:spPr>
        </p:sp>
        <p:sp>
          <p:nvSpPr>
            <p:cNvPr id="16" name="TextBox 16"/>
            <p:cNvSpPr txBox="1"/>
            <p:nvPr/>
          </p:nvSpPr>
          <p:spPr>
            <a:xfrm>
              <a:off x="0" y="-66675"/>
              <a:ext cx="1260527" cy="801250"/>
            </a:xfrm>
            <a:prstGeom prst="rect">
              <a:avLst/>
            </a:prstGeom>
          </p:spPr>
          <p:txBody>
            <a:bodyPr lIns="50800" tIns="50800" rIns="50800" bIns="50800" rtlCol="0" anchor="ctr"/>
            <a:lstStyle/>
            <a:p>
              <a:pPr algn="ctr">
                <a:lnSpc>
                  <a:spcPts val="5040"/>
                </a:lnSpc>
              </a:pPr>
              <a:endParaRPr/>
            </a:p>
          </p:txBody>
        </p:sp>
      </p:grpSp>
      <p:sp>
        <p:nvSpPr>
          <p:cNvPr id="17" name="TextBox 17"/>
          <p:cNvSpPr txBox="1"/>
          <p:nvPr/>
        </p:nvSpPr>
        <p:spPr>
          <a:xfrm>
            <a:off x="1154175" y="466781"/>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      KPIs </a:t>
            </a:r>
          </a:p>
        </p:txBody>
      </p:sp>
      <p:sp>
        <p:nvSpPr>
          <p:cNvPr id="18" name="TextBox 18"/>
          <p:cNvSpPr txBox="1"/>
          <p:nvPr/>
        </p:nvSpPr>
        <p:spPr>
          <a:xfrm>
            <a:off x="1633272" y="2623747"/>
            <a:ext cx="2902985" cy="1188720"/>
          </a:xfrm>
          <a:prstGeom prst="rect">
            <a:avLst/>
          </a:prstGeom>
        </p:spPr>
        <p:txBody>
          <a:bodyPr lIns="0" tIns="0" rIns="0" bIns="0" rtlCol="0" anchor="t">
            <a:spAutoFit/>
          </a:bodyPr>
          <a:lstStyle/>
          <a:p>
            <a:pPr algn="ctr">
              <a:lnSpc>
                <a:spcPts val="4340"/>
              </a:lnSpc>
            </a:pPr>
            <a:r>
              <a:rPr lang="en-US" sz="3100">
                <a:solidFill>
                  <a:srgbClr val="000000"/>
                </a:solidFill>
                <a:latin typeface="Glacial Indifference"/>
                <a:ea typeface="Glacial Indifference"/>
                <a:cs typeface="Glacial Indifference"/>
                <a:sym typeface="Glacial Indifference"/>
              </a:rPr>
              <a:t>Total earnings</a:t>
            </a:r>
          </a:p>
          <a:p>
            <a:pPr algn="ctr">
              <a:lnSpc>
                <a:spcPts val="5319"/>
              </a:lnSpc>
              <a:spcBef>
                <a:spcPct val="0"/>
              </a:spcBef>
            </a:pPr>
            <a:r>
              <a:rPr lang="en-US" sz="3799">
                <a:solidFill>
                  <a:srgbClr val="000000"/>
                </a:solidFill>
                <a:latin typeface="Glacial Indifference"/>
                <a:ea typeface="Glacial Indifference"/>
                <a:cs typeface="Glacial Indifference"/>
                <a:sym typeface="Glacial Indifference"/>
              </a:rPr>
              <a:t>$9.8M</a:t>
            </a:r>
          </a:p>
        </p:txBody>
      </p:sp>
      <p:sp>
        <p:nvSpPr>
          <p:cNvPr id="19" name="TextBox 19"/>
          <p:cNvSpPr txBox="1"/>
          <p:nvPr/>
        </p:nvSpPr>
        <p:spPr>
          <a:xfrm>
            <a:off x="1633272" y="6512466"/>
            <a:ext cx="2902985" cy="1188720"/>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Avg. earnings</a:t>
            </a:r>
          </a:p>
          <a:p>
            <a:pPr algn="ctr">
              <a:lnSpc>
                <a:spcPts val="5319"/>
              </a:lnSpc>
              <a:spcBef>
                <a:spcPct val="0"/>
              </a:spcBef>
            </a:pPr>
            <a:r>
              <a:rPr lang="en-US" sz="3799" dirty="0">
                <a:solidFill>
                  <a:srgbClr val="000000"/>
                </a:solidFill>
                <a:latin typeface="Glacial Indifference"/>
                <a:ea typeface="Glacial Indifference"/>
                <a:cs typeface="Glacial Indifference"/>
                <a:sym typeface="Glacial Indifference"/>
              </a:rPr>
              <a:t>$5.02K</a:t>
            </a:r>
          </a:p>
        </p:txBody>
      </p:sp>
      <p:sp>
        <p:nvSpPr>
          <p:cNvPr id="20" name="TextBox 20"/>
          <p:cNvSpPr txBox="1"/>
          <p:nvPr/>
        </p:nvSpPr>
        <p:spPr>
          <a:xfrm>
            <a:off x="8759771" y="6512466"/>
            <a:ext cx="4087426" cy="1188720"/>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Total Marketing spend</a:t>
            </a:r>
          </a:p>
          <a:p>
            <a:pPr algn="ctr">
              <a:lnSpc>
                <a:spcPts val="5319"/>
              </a:lnSpc>
              <a:spcBef>
                <a:spcPct val="0"/>
              </a:spcBef>
            </a:pPr>
            <a:r>
              <a:rPr lang="en-US" sz="3799" dirty="0">
                <a:solidFill>
                  <a:srgbClr val="000000"/>
                </a:solidFill>
                <a:latin typeface="Glacial Indifference"/>
                <a:ea typeface="Glacial Indifference"/>
                <a:cs typeface="Glacial Indifference"/>
                <a:sym typeface="Glacial Indifference"/>
              </a:rPr>
              <a:t>$484.6K</a:t>
            </a:r>
          </a:p>
        </p:txBody>
      </p:sp>
      <p:sp>
        <p:nvSpPr>
          <p:cNvPr id="21" name="TextBox 21"/>
          <p:cNvSpPr txBox="1"/>
          <p:nvPr/>
        </p:nvSpPr>
        <p:spPr>
          <a:xfrm>
            <a:off x="9255403" y="2623747"/>
            <a:ext cx="2902985" cy="1188720"/>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Total Net income</a:t>
            </a:r>
          </a:p>
          <a:p>
            <a:pPr algn="ctr">
              <a:lnSpc>
                <a:spcPts val="5319"/>
              </a:lnSpc>
              <a:spcBef>
                <a:spcPct val="0"/>
              </a:spcBef>
            </a:pPr>
            <a:r>
              <a:rPr lang="en-US" sz="3799" dirty="0">
                <a:solidFill>
                  <a:srgbClr val="000000"/>
                </a:solidFill>
                <a:latin typeface="Glacial Indifference"/>
                <a:ea typeface="Glacial Indifference"/>
                <a:cs typeface="Glacial Indifference"/>
                <a:sym typeface="Glacial Indifference"/>
              </a:rPr>
              <a:t>$9.3M</a:t>
            </a:r>
          </a:p>
        </p:txBody>
      </p:sp>
      <p:sp>
        <p:nvSpPr>
          <p:cNvPr id="22" name="Slide Number Placeholder 21"/>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876690" y="2640772"/>
            <a:ext cx="4247170" cy="2340513"/>
            <a:chOff x="0" y="0"/>
            <a:chExt cx="1118596" cy="616431"/>
          </a:xfrm>
        </p:grpSpPr>
        <p:sp>
          <p:nvSpPr>
            <p:cNvPr id="6" name="Freeform 6"/>
            <p:cNvSpPr/>
            <p:nvPr/>
          </p:nvSpPr>
          <p:spPr>
            <a:xfrm>
              <a:off x="0" y="0"/>
              <a:ext cx="1118596" cy="616431"/>
            </a:xfrm>
            <a:custGeom>
              <a:avLst/>
              <a:gdLst/>
              <a:ahLst/>
              <a:cxnLst/>
              <a:rect l="l" t="t" r="r" b="b"/>
              <a:pathLst>
                <a:path w="1118596" h="616431">
                  <a:moveTo>
                    <a:pt x="92965" y="0"/>
                  </a:moveTo>
                  <a:lnTo>
                    <a:pt x="1025631" y="0"/>
                  </a:lnTo>
                  <a:cubicBezTo>
                    <a:pt x="1076974" y="0"/>
                    <a:pt x="1118596" y="41622"/>
                    <a:pt x="1118596" y="92965"/>
                  </a:cubicBezTo>
                  <a:lnTo>
                    <a:pt x="1118596" y="523466"/>
                  </a:lnTo>
                  <a:cubicBezTo>
                    <a:pt x="1118596" y="548122"/>
                    <a:pt x="1108802" y="571768"/>
                    <a:pt x="1091367" y="589202"/>
                  </a:cubicBezTo>
                  <a:cubicBezTo>
                    <a:pt x="1073933" y="606637"/>
                    <a:pt x="1050287" y="616431"/>
                    <a:pt x="1025631" y="616431"/>
                  </a:cubicBezTo>
                  <a:lnTo>
                    <a:pt x="92965" y="616431"/>
                  </a:lnTo>
                  <a:cubicBezTo>
                    <a:pt x="68309" y="616431"/>
                    <a:pt x="44663" y="606637"/>
                    <a:pt x="27229" y="589202"/>
                  </a:cubicBezTo>
                  <a:cubicBezTo>
                    <a:pt x="9794" y="571768"/>
                    <a:pt x="0" y="548122"/>
                    <a:pt x="0" y="523466"/>
                  </a:cubicBezTo>
                  <a:lnTo>
                    <a:pt x="0" y="92965"/>
                  </a:lnTo>
                  <a:cubicBezTo>
                    <a:pt x="0" y="68309"/>
                    <a:pt x="9794" y="44663"/>
                    <a:pt x="27229" y="27229"/>
                  </a:cubicBezTo>
                  <a:cubicBezTo>
                    <a:pt x="44663" y="9794"/>
                    <a:pt x="68309" y="0"/>
                    <a:pt x="92965" y="0"/>
                  </a:cubicBezTo>
                  <a:close/>
                </a:path>
              </a:pathLst>
            </a:custGeom>
            <a:ln w="47625" cap="rnd">
              <a:solidFill>
                <a:srgbClr val="112C16"/>
              </a:solidFill>
              <a:prstDash val="solid"/>
              <a:round/>
            </a:ln>
          </p:spPr>
        </p:sp>
        <p:sp>
          <p:nvSpPr>
            <p:cNvPr id="7" name="TextBox 7"/>
            <p:cNvSpPr txBox="1"/>
            <p:nvPr/>
          </p:nvSpPr>
          <p:spPr>
            <a:xfrm>
              <a:off x="0" y="-66675"/>
              <a:ext cx="1118596" cy="683106"/>
            </a:xfrm>
            <a:prstGeom prst="rect">
              <a:avLst/>
            </a:prstGeom>
          </p:spPr>
          <p:txBody>
            <a:bodyPr lIns="50800" tIns="50800" rIns="50800" bIns="50800" rtlCol="0" anchor="ctr"/>
            <a:lstStyle/>
            <a:p>
              <a:pPr algn="ctr">
                <a:lnSpc>
                  <a:spcPts val="5040"/>
                </a:lnSpc>
              </a:pPr>
              <a:endParaRPr/>
            </a:p>
          </p:txBody>
        </p:sp>
      </p:grpSp>
      <p:sp>
        <p:nvSpPr>
          <p:cNvPr id="8" name="TextBox 8"/>
          <p:cNvSpPr txBox="1"/>
          <p:nvPr/>
        </p:nvSpPr>
        <p:spPr>
          <a:xfrm>
            <a:off x="1502759" y="1027430"/>
            <a:ext cx="12688898" cy="1094740"/>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      KPIs </a:t>
            </a:r>
          </a:p>
        </p:txBody>
      </p:sp>
      <p:sp>
        <p:nvSpPr>
          <p:cNvPr id="9" name="TextBox 9"/>
          <p:cNvSpPr txBox="1"/>
          <p:nvPr/>
        </p:nvSpPr>
        <p:spPr>
          <a:xfrm>
            <a:off x="1054041" y="2868366"/>
            <a:ext cx="4069820" cy="1266200"/>
          </a:xfrm>
          <a:prstGeom prst="rect">
            <a:avLst/>
          </a:prstGeom>
        </p:spPr>
        <p:txBody>
          <a:bodyPr lIns="0" tIns="0" rIns="0" bIns="0" rtlCol="0" anchor="t">
            <a:spAutoFit/>
          </a:bodyPr>
          <a:lstStyle/>
          <a:p>
            <a:pPr algn="ctr">
              <a:lnSpc>
                <a:spcPts val="4639"/>
              </a:lnSpc>
            </a:pPr>
            <a:r>
              <a:rPr lang="en-US" sz="3314" dirty="0">
                <a:solidFill>
                  <a:srgbClr val="000000"/>
                </a:solidFill>
                <a:latin typeface="Glacial Indifference"/>
                <a:ea typeface="Glacial Indifference"/>
                <a:cs typeface="Glacial Indifference"/>
                <a:sym typeface="Glacial Indifference"/>
              </a:rPr>
              <a:t>Total jobs completed</a:t>
            </a:r>
          </a:p>
          <a:p>
            <a:pPr algn="ctr">
              <a:lnSpc>
                <a:spcPts val="5687"/>
              </a:lnSpc>
              <a:spcBef>
                <a:spcPct val="0"/>
              </a:spcBef>
            </a:pPr>
            <a:r>
              <a:rPr lang="en-US" sz="4062" dirty="0">
                <a:solidFill>
                  <a:srgbClr val="000000"/>
                </a:solidFill>
                <a:latin typeface="Glacial Indifference"/>
                <a:ea typeface="Glacial Indifference"/>
                <a:cs typeface="Glacial Indifference"/>
                <a:sym typeface="Glacial Indifference"/>
              </a:rPr>
              <a:t>294,185</a:t>
            </a:r>
          </a:p>
        </p:txBody>
      </p:sp>
      <p:grpSp>
        <p:nvGrpSpPr>
          <p:cNvPr id="10" name="Group 10"/>
          <p:cNvGrpSpPr/>
          <p:nvPr/>
        </p:nvGrpSpPr>
        <p:grpSpPr>
          <a:xfrm>
            <a:off x="876690" y="5851895"/>
            <a:ext cx="4247170" cy="2444334"/>
            <a:chOff x="0" y="0"/>
            <a:chExt cx="1118596" cy="643775"/>
          </a:xfrm>
        </p:grpSpPr>
        <p:sp>
          <p:nvSpPr>
            <p:cNvPr id="11" name="Freeform 11"/>
            <p:cNvSpPr/>
            <p:nvPr/>
          </p:nvSpPr>
          <p:spPr>
            <a:xfrm>
              <a:off x="0" y="0"/>
              <a:ext cx="1118596" cy="643775"/>
            </a:xfrm>
            <a:custGeom>
              <a:avLst/>
              <a:gdLst/>
              <a:ahLst/>
              <a:cxnLst/>
              <a:rect l="l" t="t" r="r" b="b"/>
              <a:pathLst>
                <a:path w="1118596" h="643775">
                  <a:moveTo>
                    <a:pt x="92965" y="0"/>
                  </a:moveTo>
                  <a:lnTo>
                    <a:pt x="1025631" y="0"/>
                  </a:lnTo>
                  <a:cubicBezTo>
                    <a:pt x="1076974" y="0"/>
                    <a:pt x="1118596" y="41622"/>
                    <a:pt x="1118596" y="92965"/>
                  </a:cubicBezTo>
                  <a:lnTo>
                    <a:pt x="1118596" y="550810"/>
                  </a:lnTo>
                  <a:cubicBezTo>
                    <a:pt x="1118596" y="575466"/>
                    <a:pt x="1108802" y="599112"/>
                    <a:pt x="1091367" y="616546"/>
                  </a:cubicBezTo>
                  <a:cubicBezTo>
                    <a:pt x="1073933" y="633981"/>
                    <a:pt x="1050287" y="643775"/>
                    <a:pt x="1025631" y="643775"/>
                  </a:cubicBezTo>
                  <a:lnTo>
                    <a:pt x="92965" y="643775"/>
                  </a:lnTo>
                  <a:cubicBezTo>
                    <a:pt x="68309" y="643775"/>
                    <a:pt x="44663" y="633981"/>
                    <a:pt x="27229" y="616546"/>
                  </a:cubicBezTo>
                  <a:cubicBezTo>
                    <a:pt x="9794" y="599112"/>
                    <a:pt x="0" y="575466"/>
                    <a:pt x="0" y="550810"/>
                  </a:cubicBezTo>
                  <a:lnTo>
                    <a:pt x="0" y="92965"/>
                  </a:lnTo>
                  <a:cubicBezTo>
                    <a:pt x="0" y="68309"/>
                    <a:pt x="9794" y="44663"/>
                    <a:pt x="27229" y="27229"/>
                  </a:cubicBezTo>
                  <a:cubicBezTo>
                    <a:pt x="44663" y="9794"/>
                    <a:pt x="68309" y="0"/>
                    <a:pt x="92965" y="0"/>
                  </a:cubicBezTo>
                  <a:close/>
                </a:path>
              </a:pathLst>
            </a:custGeom>
            <a:ln w="47625" cap="rnd">
              <a:solidFill>
                <a:srgbClr val="112C16"/>
              </a:solidFill>
              <a:prstDash val="solid"/>
              <a:round/>
            </a:ln>
          </p:spPr>
        </p:sp>
        <p:sp>
          <p:nvSpPr>
            <p:cNvPr id="12" name="TextBox 12"/>
            <p:cNvSpPr txBox="1"/>
            <p:nvPr/>
          </p:nvSpPr>
          <p:spPr>
            <a:xfrm>
              <a:off x="0" y="-66675"/>
              <a:ext cx="1118596" cy="710450"/>
            </a:xfrm>
            <a:prstGeom prst="rect">
              <a:avLst/>
            </a:prstGeom>
          </p:spPr>
          <p:txBody>
            <a:bodyPr lIns="50800" tIns="50800" rIns="50800" bIns="50800" rtlCol="0" anchor="ctr"/>
            <a:lstStyle/>
            <a:p>
              <a:pPr algn="ctr">
                <a:lnSpc>
                  <a:spcPts val="5040"/>
                </a:lnSpc>
              </a:pPr>
              <a:endParaRPr/>
            </a:p>
          </p:txBody>
        </p:sp>
      </p:grpSp>
      <p:sp>
        <p:nvSpPr>
          <p:cNvPr id="13" name="TextBox 13"/>
          <p:cNvSpPr txBox="1"/>
          <p:nvPr/>
        </p:nvSpPr>
        <p:spPr>
          <a:xfrm>
            <a:off x="876690" y="6120371"/>
            <a:ext cx="4160691" cy="1188720"/>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Avg. jobs completed</a:t>
            </a:r>
          </a:p>
          <a:p>
            <a:pPr algn="ctr">
              <a:lnSpc>
                <a:spcPts val="5319"/>
              </a:lnSpc>
              <a:spcBef>
                <a:spcPct val="0"/>
              </a:spcBef>
            </a:pPr>
            <a:r>
              <a:rPr lang="en-US" sz="3799" dirty="0">
                <a:solidFill>
                  <a:srgbClr val="000000"/>
                </a:solidFill>
                <a:latin typeface="Glacial Indifference"/>
                <a:ea typeface="Glacial Indifference"/>
                <a:cs typeface="Glacial Indifference"/>
                <a:sym typeface="Glacial Indifference"/>
              </a:rPr>
              <a:t>151</a:t>
            </a:r>
          </a:p>
        </p:txBody>
      </p:sp>
      <p:grpSp>
        <p:nvGrpSpPr>
          <p:cNvPr id="14" name="Group 14"/>
          <p:cNvGrpSpPr/>
          <p:nvPr/>
        </p:nvGrpSpPr>
        <p:grpSpPr>
          <a:xfrm>
            <a:off x="6844528" y="2640772"/>
            <a:ext cx="3918781" cy="2502728"/>
            <a:chOff x="0" y="0"/>
            <a:chExt cx="1032107" cy="659155"/>
          </a:xfrm>
        </p:grpSpPr>
        <p:sp>
          <p:nvSpPr>
            <p:cNvPr id="15" name="Freeform 15"/>
            <p:cNvSpPr/>
            <p:nvPr/>
          </p:nvSpPr>
          <p:spPr>
            <a:xfrm>
              <a:off x="0" y="0"/>
              <a:ext cx="1032107" cy="659155"/>
            </a:xfrm>
            <a:custGeom>
              <a:avLst/>
              <a:gdLst/>
              <a:ahLst/>
              <a:cxnLst/>
              <a:rect l="l" t="t" r="r" b="b"/>
              <a:pathLst>
                <a:path w="1032107" h="659155">
                  <a:moveTo>
                    <a:pt x="100755" y="0"/>
                  </a:moveTo>
                  <a:lnTo>
                    <a:pt x="931352" y="0"/>
                  </a:lnTo>
                  <a:cubicBezTo>
                    <a:pt x="986997" y="0"/>
                    <a:pt x="1032107" y="45110"/>
                    <a:pt x="1032107" y="100755"/>
                  </a:cubicBezTo>
                  <a:lnTo>
                    <a:pt x="1032107" y="558399"/>
                  </a:lnTo>
                  <a:cubicBezTo>
                    <a:pt x="1032107" y="585121"/>
                    <a:pt x="1021492" y="610749"/>
                    <a:pt x="1002596" y="629644"/>
                  </a:cubicBezTo>
                  <a:cubicBezTo>
                    <a:pt x="983701" y="648539"/>
                    <a:pt x="958074" y="659155"/>
                    <a:pt x="931352" y="659155"/>
                  </a:cubicBezTo>
                  <a:lnTo>
                    <a:pt x="100755" y="659155"/>
                  </a:lnTo>
                  <a:cubicBezTo>
                    <a:pt x="45110" y="659155"/>
                    <a:pt x="0" y="614045"/>
                    <a:pt x="0" y="558399"/>
                  </a:cubicBezTo>
                  <a:lnTo>
                    <a:pt x="0" y="100755"/>
                  </a:lnTo>
                  <a:cubicBezTo>
                    <a:pt x="0" y="45110"/>
                    <a:pt x="45110" y="0"/>
                    <a:pt x="100755" y="0"/>
                  </a:cubicBezTo>
                  <a:close/>
                </a:path>
              </a:pathLst>
            </a:custGeom>
            <a:ln w="47625" cap="rnd">
              <a:solidFill>
                <a:srgbClr val="112C16"/>
              </a:solidFill>
              <a:prstDash val="solid"/>
              <a:round/>
            </a:ln>
          </p:spPr>
        </p:sp>
        <p:sp>
          <p:nvSpPr>
            <p:cNvPr id="16" name="TextBox 16"/>
            <p:cNvSpPr txBox="1"/>
            <p:nvPr/>
          </p:nvSpPr>
          <p:spPr>
            <a:xfrm>
              <a:off x="0" y="-66675"/>
              <a:ext cx="1032107" cy="725830"/>
            </a:xfrm>
            <a:prstGeom prst="rect">
              <a:avLst/>
            </a:prstGeom>
          </p:spPr>
          <p:txBody>
            <a:bodyPr lIns="50800" tIns="50800" rIns="50800" bIns="50800" rtlCol="0" anchor="ctr"/>
            <a:lstStyle/>
            <a:p>
              <a:pPr algn="ctr">
                <a:lnSpc>
                  <a:spcPts val="5040"/>
                </a:lnSpc>
              </a:pPr>
              <a:endParaRPr/>
            </a:p>
          </p:txBody>
        </p:sp>
      </p:grpSp>
      <p:sp>
        <p:nvSpPr>
          <p:cNvPr id="17" name="TextBox 17"/>
          <p:cNvSpPr txBox="1"/>
          <p:nvPr/>
        </p:nvSpPr>
        <p:spPr>
          <a:xfrm>
            <a:off x="7027001" y="2868366"/>
            <a:ext cx="3553834" cy="1188720"/>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Avg. Success rate</a:t>
            </a:r>
          </a:p>
          <a:p>
            <a:pPr algn="ctr">
              <a:lnSpc>
                <a:spcPts val="5319"/>
              </a:lnSpc>
              <a:spcBef>
                <a:spcPct val="0"/>
              </a:spcBef>
            </a:pPr>
            <a:r>
              <a:rPr lang="en-US" sz="3799" dirty="0">
                <a:solidFill>
                  <a:srgbClr val="000000"/>
                </a:solidFill>
                <a:latin typeface="Glacial Indifference"/>
                <a:ea typeface="Glacial Indifference"/>
                <a:cs typeface="Glacial Indifference"/>
                <a:sym typeface="Glacial Indifference"/>
              </a:rPr>
              <a:t>74.95%</a:t>
            </a:r>
          </a:p>
        </p:txBody>
      </p:sp>
      <p:grpSp>
        <p:nvGrpSpPr>
          <p:cNvPr id="18" name="Group 18"/>
          <p:cNvGrpSpPr/>
          <p:nvPr/>
        </p:nvGrpSpPr>
        <p:grpSpPr>
          <a:xfrm>
            <a:off x="12143830" y="2640772"/>
            <a:ext cx="3871139" cy="2340513"/>
            <a:chOff x="0" y="0"/>
            <a:chExt cx="1019559" cy="616431"/>
          </a:xfrm>
        </p:grpSpPr>
        <p:sp>
          <p:nvSpPr>
            <p:cNvPr id="19" name="Freeform 19"/>
            <p:cNvSpPr/>
            <p:nvPr/>
          </p:nvSpPr>
          <p:spPr>
            <a:xfrm>
              <a:off x="0" y="0"/>
              <a:ext cx="1019559" cy="616431"/>
            </a:xfrm>
            <a:custGeom>
              <a:avLst/>
              <a:gdLst/>
              <a:ahLst/>
              <a:cxnLst/>
              <a:rect l="l" t="t" r="r" b="b"/>
              <a:pathLst>
                <a:path w="1019559" h="616431">
                  <a:moveTo>
                    <a:pt x="101995" y="0"/>
                  </a:moveTo>
                  <a:lnTo>
                    <a:pt x="917564" y="0"/>
                  </a:lnTo>
                  <a:cubicBezTo>
                    <a:pt x="944615" y="0"/>
                    <a:pt x="970558" y="10746"/>
                    <a:pt x="989686" y="29874"/>
                  </a:cubicBezTo>
                  <a:cubicBezTo>
                    <a:pt x="1008814" y="49002"/>
                    <a:pt x="1019559" y="74944"/>
                    <a:pt x="1019559" y="101995"/>
                  </a:cubicBezTo>
                  <a:lnTo>
                    <a:pt x="1019559" y="514436"/>
                  </a:lnTo>
                  <a:cubicBezTo>
                    <a:pt x="1019559" y="570766"/>
                    <a:pt x="973895" y="616431"/>
                    <a:pt x="917564" y="616431"/>
                  </a:cubicBezTo>
                  <a:lnTo>
                    <a:pt x="101995" y="616431"/>
                  </a:lnTo>
                  <a:cubicBezTo>
                    <a:pt x="74944" y="616431"/>
                    <a:pt x="49002" y="605685"/>
                    <a:pt x="29874" y="586558"/>
                  </a:cubicBezTo>
                  <a:cubicBezTo>
                    <a:pt x="10746" y="567430"/>
                    <a:pt x="0" y="541487"/>
                    <a:pt x="0" y="514436"/>
                  </a:cubicBezTo>
                  <a:lnTo>
                    <a:pt x="0" y="101995"/>
                  </a:lnTo>
                  <a:cubicBezTo>
                    <a:pt x="0" y="74944"/>
                    <a:pt x="10746" y="49002"/>
                    <a:pt x="29874" y="29874"/>
                  </a:cubicBezTo>
                  <a:cubicBezTo>
                    <a:pt x="49002" y="10746"/>
                    <a:pt x="74944" y="0"/>
                    <a:pt x="101995" y="0"/>
                  </a:cubicBezTo>
                  <a:close/>
                </a:path>
              </a:pathLst>
            </a:custGeom>
            <a:ln w="47625" cap="rnd">
              <a:solidFill>
                <a:srgbClr val="112C16"/>
              </a:solidFill>
              <a:prstDash val="solid"/>
              <a:round/>
            </a:ln>
          </p:spPr>
        </p:sp>
        <p:sp>
          <p:nvSpPr>
            <p:cNvPr id="20" name="TextBox 20"/>
            <p:cNvSpPr txBox="1"/>
            <p:nvPr/>
          </p:nvSpPr>
          <p:spPr>
            <a:xfrm>
              <a:off x="0" y="-66675"/>
              <a:ext cx="1019559" cy="683106"/>
            </a:xfrm>
            <a:prstGeom prst="rect">
              <a:avLst/>
            </a:prstGeom>
          </p:spPr>
          <p:txBody>
            <a:bodyPr lIns="50800" tIns="50800" rIns="50800" bIns="50800" rtlCol="0" anchor="ctr"/>
            <a:lstStyle/>
            <a:p>
              <a:pPr algn="ctr">
                <a:lnSpc>
                  <a:spcPts val="5040"/>
                </a:lnSpc>
              </a:pPr>
              <a:endParaRPr/>
            </a:p>
          </p:txBody>
        </p:sp>
      </p:grpSp>
      <p:sp>
        <p:nvSpPr>
          <p:cNvPr id="21" name="TextBox 21"/>
          <p:cNvSpPr txBox="1"/>
          <p:nvPr/>
        </p:nvSpPr>
        <p:spPr>
          <a:xfrm>
            <a:off x="12929910" y="2925833"/>
            <a:ext cx="2902985" cy="1073785"/>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Avg. Rehire rate</a:t>
            </a:r>
          </a:p>
          <a:p>
            <a:pPr algn="ctr">
              <a:lnSpc>
                <a:spcPts val="4340"/>
              </a:lnSpc>
              <a:spcBef>
                <a:spcPct val="0"/>
              </a:spcBef>
            </a:pPr>
            <a:r>
              <a:rPr lang="en-US" sz="3100" dirty="0">
                <a:solidFill>
                  <a:srgbClr val="000000"/>
                </a:solidFill>
                <a:latin typeface="Glacial Indifference"/>
                <a:ea typeface="Glacial Indifference"/>
                <a:cs typeface="Glacial Indifference"/>
                <a:sym typeface="Glacial Indifference"/>
              </a:rPr>
              <a:t>44.6%</a:t>
            </a:r>
          </a:p>
        </p:txBody>
      </p:sp>
      <p:grpSp>
        <p:nvGrpSpPr>
          <p:cNvPr id="22" name="Group 22"/>
          <p:cNvGrpSpPr/>
          <p:nvPr/>
        </p:nvGrpSpPr>
        <p:grpSpPr>
          <a:xfrm>
            <a:off x="6844528" y="5851895"/>
            <a:ext cx="3918781" cy="2430908"/>
            <a:chOff x="0" y="0"/>
            <a:chExt cx="1032107" cy="640239"/>
          </a:xfrm>
        </p:grpSpPr>
        <p:sp>
          <p:nvSpPr>
            <p:cNvPr id="23" name="Freeform 23"/>
            <p:cNvSpPr/>
            <p:nvPr/>
          </p:nvSpPr>
          <p:spPr>
            <a:xfrm>
              <a:off x="0" y="0"/>
              <a:ext cx="1032107" cy="640239"/>
            </a:xfrm>
            <a:custGeom>
              <a:avLst/>
              <a:gdLst/>
              <a:ahLst/>
              <a:cxnLst/>
              <a:rect l="l" t="t" r="r" b="b"/>
              <a:pathLst>
                <a:path w="1032107" h="640239">
                  <a:moveTo>
                    <a:pt x="100755" y="0"/>
                  </a:moveTo>
                  <a:lnTo>
                    <a:pt x="931352" y="0"/>
                  </a:lnTo>
                  <a:cubicBezTo>
                    <a:pt x="986997" y="0"/>
                    <a:pt x="1032107" y="45110"/>
                    <a:pt x="1032107" y="100755"/>
                  </a:cubicBezTo>
                  <a:lnTo>
                    <a:pt x="1032107" y="539484"/>
                  </a:lnTo>
                  <a:cubicBezTo>
                    <a:pt x="1032107" y="595130"/>
                    <a:pt x="986997" y="640239"/>
                    <a:pt x="931352" y="640239"/>
                  </a:cubicBezTo>
                  <a:lnTo>
                    <a:pt x="100755" y="640239"/>
                  </a:lnTo>
                  <a:cubicBezTo>
                    <a:pt x="45110" y="640239"/>
                    <a:pt x="0" y="595130"/>
                    <a:pt x="0" y="539484"/>
                  </a:cubicBezTo>
                  <a:lnTo>
                    <a:pt x="0" y="100755"/>
                  </a:lnTo>
                  <a:cubicBezTo>
                    <a:pt x="0" y="45110"/>
                    <a:pt x="45110" y="0"/>
                    <a:pt x="100755" y="0"/>
                  </a:cubicBezTo>
                  <a:close/>
                </a:path>
              </a:pathLst>
            </a:custGeom>
            <a:ln w="47625" cap="rnd">
              <a:solidFill>
                <a:srgbClr val="112C16"/>
              </a:solidFill>
              <a:prstDash val="solid"/>
              <a:round/>
            </a:ln>
          </p:spPr>
        </p:sp>
        <p:sp>
          <p:nvSpPr>
            <p:cNvPr id="24" name="TextBox 24"/>
            <p:cNvSpPr txBox="1"/>
            <p:nvPr/>
          </p:nvSpPr>
          <p:spPr>
            <a:xfrm>
              <a:off x="0" y="-66675"/>
              <a:ext cx="1032107" cy="706914"/>
            </a:xfrm>
            <a:prstGeom prst="rect">
              <a:avLst/>
            </a:prstGeom>
          </p:spPr>
          <p:txBody>
            <a:bodyPr lIns="50800" tIns="50800" rIns="50800" bIns="50800" rtlCol="0" anchor="ctr"/>
            <a:lstStyle/>
            <a:p>
              <a:pPr algn="ctr">
                <a:lnSpc>
                  <a:spcPts val="5040"/>
                </a:lnSpc>
              </a:pPr>
              <a:endParaRPr/>
            </a:p>
          </p:txBody>
        </p:sp>
      </p:grpSp>
      <p:sp>
        <p:nvSpPr>
          <p:cNvPr id="25" name="TextBox 25"/>
          <p:cNvSpPr txBox="1"/>
          <p:nvPr/>
        </p:nvSpPr>
        <p:spPr>
          <a:xfrm>
            <a:off x="7048521" y="6000278"/>
            <a:ext cx="3532314" cy="1073785"/>
          </a:xfrm>
          <a:prstGeom prst="rect">
            <a:avLst/>
          </a:prstGeom>
        </p:spPr>
        <p:txBody>
          <a:bodyPr lIns="0" tIns="0" rIns="0" bIns="0" rtlCol="0" anchor="t">
            <a:spAutoFit/>
          </a:bodyPr>
          <a:lstStyle/>
          <a:p>
            <a:pPr algn="ctr">
              <a:lnSpc>
                <a:spcPts val="4340"/>
              </a:lnSpc>
            </a:pPr>
            <a:r>
              <a:rPr lang="en-US" sz="3100" dirty="0">
                <a:solidFill>
                  <a:srgbClr val="000000"/>
                </a:solidFill>
                <a:latin typeface="Glacial Indifference"/>
                <a:ea typeface="Glacial Indifference"/>
                <a:cs typeface="Glacial Indifference"/>
                <a:sym typeface="Glacial Indifference"/>
              </a:rPr>
              <a:t>Avg. Client Rating</a:t>
            </a:r>
          </a:p>
          <a:p>
            <a:pPr algn="ctr">
              <a:lnSpc>
                <a:spcPts val="4340"/>
              </a:lnSpc>
              <a:spcBef>
                <a:spcPct val="0"/>
              </a:spcBef>
            </a:pPr>
            <a:r>
              <a:rPr lang="en-US" sz="3100" dirty="0">
                <a:solidFill>
                  <a:srgbClr val="000000"/>
                </a:solidFill>
                <a:latin typeface="Glacial Indifference"/>
                <a:ea typeface="Glacial Indifference"/>
                <a:cs typeface="Glacial Indifference"/>
                <a:sym typeface="Glacial Indifference"/>
              </a:rPr>
              <a:t>4.0</a:t>
            </a:r>
          </a:p>
        </p:txBody>
      </p:sp>
      <p:sp>
        <p:nvSpPr>
          <p:cNvPr id="26" name="Slide Number Placeholder 2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7" grpId="0"/>
      <p:bldP spid="21"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205105" y="310852"/>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57200" y="432112"/>
            <a:ext cx="12688898" cy="1094740"/>
          </a:xfrm>
          <a:prstGeom prst="rect">
            <a:avLst/>
          </a:prstGeom>
        </p:spPr>
        <p:txBody>
          <a:bodyPr lIns="0" tIns="0" rIns="0" bIns="0" rtlCol="0" anchor="t">
            <a:spAutoFit/>
          </a:bodyPr>
          <a:lstStyle/>
          <a:p>
            <a:pPr algn="l">
              <a:lnSpc>
                <a:spcPts val="8959"/>
              </a:lnSpc>
              <a:spcBef>
                <a:spcPct val="0"/>
              </a:spcBef>
            </a:pPr>
            <a:r>
              <a:rPr lang="en-US" sz="6399" dirty="0">
                <a:solidFill>
                  <a:srgbClr val="F1F0E7"/>
                </a:solidFill>
                <a:latin typeface="Anton"/>
                <a:ea typeface="Anton"/>
                <a:cs typeface="Anton"/>
                <a:sym typeface="Anton"/>
              </a:rPr>
              <a:t>Freelancer </a:t>
            </a:r>
            <a:r>
              <a:rPr lang="en-US" sz="6399" dirty="0" smtClean="0">
                <a:solidFill>
                  <a:srgbClr val="F1F0E7"/>
                </a:solidFill>
                <a:latin typeface="Anton"/>
                <a:ea typeface="Anton"/>
                <a:cs typeface="Anton"/>
                <a:sym typeface="Anton"/>
              </a:rPr>
              <a:t>earnings prediction</a:t>
            </a:r>
            <a:endParaRPr lang="en-US" sz="6399" dirty="0">
              <a:solidFill>
                <a:srgbClr val="F1F0E7"/>
              </a:solidFill>
              <a:latin typeface="Anton"/>
              <a:ea typeface="Anton"/>
              <a:cs typeface="Anton"/>
              <a:sym typeface="Anton"/>
            </a:endParaRPr>
          </a:p>
        </p:txBody>
      </p:sp>
      <p:sp>
        <p:nvSpPr>
          <p:cNvPr id="8" name="Freeform 8"/>
          <p:cNvSpPr/>
          <p:nvPr/>
        </p:nvSpPr>
        <p:spPr>
          <a:xfrm>
            <a:off x="13845342" y="403951"/>
            <a:ext cx="945559" cy="996279"/>
          </a:xfrm>
          <a:custGeom>
            <a:avLst/>
            <a:gdLst/>
            <a:ahLst/>
            <a:cxnLst/>
            <a:rect l="l" t="t" r="r" b="b"/>
            <a:pathLst>
              <a:path w="945559" h="996279">
                <a:moveTo>
                  <a:pt x="0" y="0"/>
                </a:moveTo>
                <a:lnTo>
                  <a:pt x="945559" y="0"/>
                </a:lnTo>
                <a:lnTo>
                  <a:pt x="945559" y="996278"/>
                </a:lnTo>
                <a:lnTo>
                  <a:pt x="0" y="996278"/>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10" name="TextBox 9"/>
          <p:cNvSpPr txBox="1"/>
          <p:nvPr/>
        </p:nvSpPr>
        <p:spPr>
          <a:xfrm>
            <a:off x="304800" y="2095500"/>
            <a:ext cx="6858000" cy="6247864"/>
          </a:xfrm>
          <a:prstGeom prst="rect">
            <a:avLst/>
          </a:prstGeom>
          <a:noFill/>
        </p:spPr>
        <p:txBody>
          <a:bodyPr wrap="square" rtlCol="0">
            <a:spAutoFit/>
          </a:bodyPr>
          <a:lstStyle/>
          <a:p>
            <a:r>
              <a:rPr lang="en-GB" sz="2000" dirty="0" smtClean="0">
                <a:latin typeface="Glacial Indifference" panose="020B0604020202020204" charset="0"/>
              </a:rPr>
              <a:t>Multiple linear regression to predict earnings with all variables</a:t>
            </a:r>
          </a:p>
          <a:p>
            <a:endParaRPr lang="en-GB" sz="2000" dirty="0">
              <a:latin typeface="Glacial Indifference" panose="020B0604020202020204" charset="0"/>
            </a:endParaRPr>
          </a:p>
          <a:p>
            <a:r>
              <a:rPr lang="en-GB" sz="2000" dirty="0" smtClean="0">
                <a:latin typeface="Glacial Indifference" panose="020B0604020202020204" charset="0"/>
              </a:rPr>
              <a:t>P &lt; 0.05 is significant</a:t>
            </a:r>
          </a:p>
          <a:p>
            <a:r>
              <a:rPr lang="en-GB" sz="2000" dirty="0" smtClean="0">
                <a:latin typeface="Glacial Indifference" panose="020B0604020202020204" charset="0"/>
              </a:rPr>
              <a:t>P &gt; 0.05 not significant </a:t>
            </a:r>
          </a:p>
          <a:p>
            <a:endParaRPr lang="en-GB" sz="2000" dirty="0">
              <a:latin typeface="Glacial Indifference" panose="020B0604020202020204" charset="0"/>
            </a:endParaRPr>
          </a:p>
          <a:p>
            <a:r>
              <a:rPr lang="en-GB" sz="2000" u="sng" dirty="0" smtClean="0">
                <a:latin typeface="Glacial Indifference" panose="020B0604020202020204" charset="0"/>
              </a:rPr>
              <a:t>Variables                         p-value                   Significant</a:t>
            </a:r>
          </a:p>
          <a:p>
            <a:r>
              <a:rPr lang="en-GB" sz="2000" dirty="0" smtClean="0">
                <a:latin typeface="Glacial Indifference" panose="020B0604020202020204" charset="0"/>
              </a:rPr>
              <a:t>Jobs completed            0.412                             no</a:t>
            </a:r>
          </a:p>
          <a:p>
            <a:r>
              <a:rPr lang="en-GB" sz="2000" dirty="0" smtClean="0">
                <a:latin typeface="Glacial Indifference" panose="020B0604020202020204" charset="0"/>
              </a:rPr>
              <a:t>Hourly rate                    0.505                            no</a:t>
            </a:r>
          </a:p>
          <a:p>
            <a:r>
              <a:rPr lang="en-GB" sz="2000" dirty="0" smtClean="0">
                <a:latin typeface="Glacial Indifference" panose="020B0604020202020204" charset="0"/>
              </a:rPr>
              <a:t>Job success rate           0.184                             no</a:t>
            </a:r>
          </a:p>
          <a:p>
            <a:r>
              <a:rPr lang="en-GB" sz="2000" dirty="0" smtClean="0">
                <a:latin typeface="Glacial Indifference" panose="020B0604020202020204" charset="0"/>
              </a:rPr>
              <a:t>Client rating                 0.402                            no</a:t>
            </a:r>
          </a:p>
          <a:p>
            <a:r>
              <a:rPr lang="en-GB" sz="2000" dirty="0" smtClean="0">
                <a:latin typeface="Glacial Indifference" panose="020B0604020202020204" charset="0"/>
              </a:rPr>
              <a:t>Job duration days         0.680                            no</a:t>
            </a:r>
          </a:p>
          <a:p>
            <a:r>
              <a:rPr lang="en-GB" sz="2000" dirty="0" smtClean="0">
                <a:latin typeface="Glacial Indifference" panose="020B0604020202020204" charset="0"/>
              </a:rPr>
              <a:t>Rehire rate                    0.073                 marginal but not &lt; 0.05</a:t>
            </a:r>
          </a:p>
          <a:p>
            <a:r>
              <a:rPr lang="en-GB" sz="2000" b="1" dirty="0" smtClean="0">
                <a:latin typeface="Glacial Indifference" panose="020B0604020202020204" charset="0"/>
              </a:rPr>
              <a:t>Marketing spend         0.045                            yes</a:t>
            </a:r>
          </a:p>
          <a:p>
            <a:endParaRPr lang="en-GB" sz="2000" dirty="0">
              <a:latin typeface="Glacial Indifference" panose="020B0604020202020204" charset="0"/>
            </a:endParaRPr>
          </a:p>
          <a:p>
            <a:endParaRPr lang="en-GB" sz="2000" dirty="0">
              <a:latin typeface="Glacial Indifference" panose="020B0604020202020204" charset="0"/>
            </a:endParaRPr>
          </a:p>
          <a:p>
            <a:r>
              <a:rPr lang="en-GB" sz="2000" b="1" dirty="0" smtClean="0">
                <a:latin typeface="Glacial Indifference" panose="020B0604020202020204" charset="0"/>
              </a:rPr>
              <a:t>Marketing spend can be used to predict earnings</a:t>
            </a:r>
          </a:p>
          <a:p>
            <a:r>
              <a:rPr lang="en-GB" sz="2000" b="1" dirty="0" smtClean="0">
                <a:latin typeface="Glacial Indifference" panose="020B0604020202020204" charset="0"/>
              </a:rPr>
              <a:t>Coefficient = 0.90</a:t>
            </a:r>
          </a:p>
          <a:p>
            <a:endParaRPr lang="en-GB" sz="2000" dirty="0">
              <a:latin typeface="Glacial Indifference" panose="020B0604020202020204" charset="0"/>
            </a:endParaRPr>
          </a:p>
        </p:txBody>
      </p:sp>
      <p:sp>
        <p:nvSpPr>
          <p:cNvPr id="12" name="TextBox 11"/>
          <p:cNvSpPr txBox="1"/>
          <p:nvPr/>
        </p:nvSpPr>
        <p:spPr>
          <a:xfrm>
            <a:off x="9220200" y="2095501"/>
            <a:ext cx="6400800" cy="6186309"/>
          </a:xfrm>
          <a:prstGeom prst="rect">
            <a:avLst/>
          </a:prstGeom>
          <a:noFill/>
        </p:spPr>
        <p:txBody>
          <a:bodyPr wrap="square" rtlCol="0">
            <a:spAutoFit/>
          </a:bodyPr>
          <a:lstStyle/>
          <a:p>
            <a:r>
              <a:rPr lang="en-GB" sz="2000" dirty="0" smtClean="0">
                <a:latin typeface="Glacial Indifference" panose="020B0604020202020204" charset="0"/>
              </a:rPr>
              <a:t>Linear regression to predict earnings with marketing spend </a:t>
            </a:r>
          </a:p>
          <a:p>
            <a:endParaRPr lang="en-GB" sz="2000" dirty="0">
              <a:latin typeface="Glacial Indifference" panose="020B0604020202020204" charset="0"/>
            </a:endParaRPr>
          </a:p>
          <a:p>
            <a:r>
              <a:rPr lang="en-GB" sz="2000" u="sng" dirty="0" smtClean="0">
                <a:latin typeface="Glacial Indifference" panose="020B0604020202020204" charset="0"/>
              </a:rPr>
              <a:t>Variable                         p-value                   Significant</a:t>
            </a:r>
          </a:p>
          <a:p>
            <a:endParaRPr lang="en-GB" sz="2000" dirty="0" smtClean="0">
              <a:latin typeface="Glacial Indifference" panose="020B0604020202020204" charset="0"/>
            </a:endParaRPr>
          </a:p>
          <a:p>
            <a:r>
              <a:rPr lang="en-GB" sz="2000" dirty="0" smtClean="0">
                <a:latin typeface="Glacial Indifference" panose="020B0604020202020204" charset="0"/>
              </a:rPr>
              <a:t>Marketing spend           0.057                    slightly &gt; 0.05</a:t>
            </a:r>
          </a:p>
          <a:p>
            <a:endParaRPr lang="en-GB" sz="2000" dirty="0">
              <a:latin typeface="Glacial Indifference" panose="020B0604020202020204" charset="0"/>
            </a:endParaRPr>
          </a:p>
          <a:p>
            <a:r>
              <a:rPr lang="en-GB" sz="2000" dirty="0" smtClean="0">
                <a:latin typeface="Glacial Indifference" panose="020B0604020202020204" charset="0"/>
              </a:rPr>
              <a:t>Intercept = 4806.19</a:t>
            </a:r>
          </a:p>
          <a:p>
            <a:r>
              <a:rPr lang="en-GB" sz="2000" dirty="0" smtClean="0">
                <a:latin typeface="Glacial Indifference" panose="020B0604020202020204" charset="0"/>
              </a:rPr>
              <a:t>Coefficient = 0.85</a:t>
            </a:r>
          </a:p>
          <a:p>
            <a:endParaRPr lang="en-GB" sz="2000" dirty="0">
              <a:latin typeface="Glacial Indifference" panose="020B0604020202020204" charset="0"/>
            </a:endParaRPr>
          </a:p>
          <a:p>
            <a:r>
              <a:rPr lang="en-GB" sz="2000" dirty="0" smtClean="0">
                <a:latin typeface="Glacial Indifference" panose="020B0604020202020204" charset="0"/>
              </a:rPr>
              <a:t>To predict earnings we apply the equation of a straight line using average marketing spend of $249</a:t>
            </a:r>
          </a:p>
          <a:p>
            <a:endParaRPr lang="en-GB" sz="2000" dirty="0">
              <a:latin typeface="Glacial Indifference" panose="020B0604020202020204" charset="0"/>
            </a:endParaRPr>
          </a:p>
          <a:p>
            <a:r>
              <a:rPr lang="en-GB" sz="2000" dirty="0" smtClean="0">
                <a:latin typeface="Glacial Indifference" panose="020B0604020202020204" charset="0"/>
              </a:rPr>
              <a:t> </a:t>
            </a:r>
          </a:p>
          <a:p>
            <a:r>
              <a:rPr lang="en-GB" sz="2000" dirty="0" smtClean="0">
                <a:latin typeface="Glacial Indifference" panose="020B0604020202020204" charset="0"/>
              </a:rPr>
              <a:t>Y = mx t c</a:t>
            </a:r>
          </a:p>
          <a:p>
            <a:r>
              <a:rPr lang="en-GB" sz="2000" dirty="0" smtClean="0">
                <a:latin typeface="Glacial Indifference" panose="020B0604020202020204" charset="0"/>
              </a:rPr>
              <a:t> where y = earnings, c = 4806.19, m = 0.85,  x = 249</a:t>
            </a:r>
            <a:endParaRPr lang="en-GB" sz="2000" dirty="0">
              <a:latin typeface="Glacial Indifference" panose="020B0604020202020204" charset="0"/>
            </a:endParaRPr>
          </a:p>
          <a:p>
            <a:endParaRPr lang="en-GB" sz="2000" dirty="0" smtClean="0">
              <a:latin typeface="Glacial Indifference" panose="020B0604020202020204" charset="0"/>
            </a:endParaRPr>
          </a:p>
          <a:p>
            <a:endParaRPr lang="en-GB" sz="2000" dirty="0">
              <a:latin typeface="Glacial Indifference" panose="020B0604020202020204" charset="0"/>
            </a:endParaRPr>
          </a:p>
          <a:p>
            <a:r>
              <a:rPr lang="en-GB" sz="2000" dirty="0" smtClean="0">
                <a:latin typeface="Glacial Indifference" panose="020B0604020202020204" charset="0"/>
              </a:rPr>
              <a:t>Earnings = (0.85 x 249) + 4806.19 = $5017.8</a:t>
            </a:r>
          </a:p>
          <a:p>
            <a:endParaRPr lang="en-GB" dirty="0">
              <a:latin typeface="Glacial Indifference" panose="020B0604020202020204" charset="0"/>
            </a:endParaRPr>
          </a:p>
        </p:txBody>
      </p:sp>
      <p:sp>
        <p:nvSpPr>
          <p:cNvPr id="13" name="TextBox 12"/>
          <p:cNvSpPr txBox="1"/>
          <p:nvPr/>
        </p:nvSpPr>
        <p:spPr>
          <a:xfrm>
            <a:off x="457200" y="8496300"/>
            <a:ext cx="16916400" cy="1200329"/>
          </a:xfrm>
          <a:prstGeom prst="rect">
            <a:avLst/>
          </a:prstGeom>
          <a:noFill/>
        </p:spPr>
        <p:txBody>
          <a:bodyPr wrap="square" rtlCol="0">
            <a:spAutoFit/>
          </a:bodyPr>
          <a:lstStyle/>
          <a:p>
            <a:r>
              <a:rPr lang="en-GB" sz="2400" dirty="0" smtClean="0">
                <a:latin typeface="Glacial Indifference" panose="020B0604020202020204" charset="0"/>
              </a:rPr>
              <a:t>We can say the average predicted earnings of a freelancer who spends an average of $249 to secure a gig is about $5017.8</a:t>
            </a:r>
          </a:p>
          <a:p>
            <a:endParaRPr lang="en-GB" sz="2400" dirty="0">
              <a:latin typeface="Glacial Indifference" panose="020B0604020202020204" charset="0"/>
            </a:endParaRPr>
          </a:p>
          <a:p>
            <a:r>
              <a:rPr lang="en-GB" sz="2400" dirty="0" smtClean="0">
                <a:latin typeface="Glacial Indifference" panose="020B0604020202020204" charset="0"/>
              </a:rPr>
              <a:t>This corresponds to the average earnings that is shown in our KPI card in slide  4:   $5.02K </a:t>
            </a:r>
            <a:endParaRPr lang="en-GB" sz="2400" dirty="0">
              <a:latin typeface="Glacial Indifference" panose="020B0604020202020204" charset="0"/>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100000"/>
                  </a:srgbClr>
                </a:gs>
                <a:gs pos="50000">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02759" y="3093183"/>
            <a:ext cx="7475177" cy="5395718"/>
          </a:xfrm>
          <a:custGeom>
            <a:avLst/>
            <a:gdLst/>
            <a:ahLst/>
            <a:cxnLst/>
            <a:rect l="l" t="t" r="r" b="b"/>
            <a:pathLst>
              <a:path w="7475177" h="5395718">
                <a:moveTo>
                  <a:pt x="0" y="0"/>
                </a:moveTo>
                <a:lnTo>
                  <a:pt x="7475177" y="0"/>
                </a:lnTo>
                <a:lnTo>
                  <a:pt x="7475177" y="5395719"/>
                </a:lnTo>
                <a:lnTo>
                  <a:pt x="0" y="539571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1502759" y="1027430"/>
            <a:ext cx="12688898" cy="1094715"/>
          </a:xfrm>
          <a:prstGeom prst="rect">
            <a:avLst/>
          </a:prstGeom>
        </p:spPr>
        <p:txBody>
          <a:bodyPr lIns="0" tIns="0" rIns="0" bIns="0" rtlCol="0" anchor="t">
            <a:spAutoFit/>
          </a:bodyPr>
          <a:lstStyle/>
          <a:p>
            <a:pPr algn="l">
              <a:lnSpc>
                <a:spcPts val="8959"/>
              </a:lnSpc>
              <a:spcBef>
                <a:spcPct val="0"/>
              </a:spcBef>
            </a:pPr>
            <a:r>
              <a:rPr lang="en-US" sz="6399">
                <a:solidFill>
                  <a:srgbClr val="F1F0E7"/>
                </a:solidFill>
                <a:latin typeface="Anton"/>
                <a:ea typeface="Anton"/>
                <a:cs typeface="Anton"/>
                <a:sym typeface="Anton"/>
              </a:rPr>
              <a:t>Dashboard &amp; Reporting</a:t>
            </a:r>
          </a:p>
        </p:txBody>
      </p:sp>
      <p:sp>
        <p:nvSpPr>
          <p:cNvPr id="12" name="Rectangle 11"/>
          <p:cNvSpPr/>
          <p:nvPr/>
        </p:nvSpPr>
        <p:spPr>
          <a:xfrm>
            <a:off x="10134600" y="3390900"/>
            <a:ext cx="3142014" cy="369332"/>
          </a:xfrm>
          <a:prstGeom prst="rect">
            <a:avLst/>
          </a:prstGeom>
        </p:spPr>
        <p:txBody>
          <a:bodyPr wrap="none">
            <a:spAutoFit/>
          </a:bodyPr>
          <a:lstStyle/>
          <a:p>
            <a:r>
              <a:rPr lang="en-GB" dirty="0" smtClean="0">
                <a:hlinkClick r:id="rId4" tooltip="Dashboard"/>
              </a:rPr>
              <a:t>Freelancer Analytics Dashboard</a:t>
            </a:r>
            <a:endParaRPr lang="en-GB"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 name="Group 2"/>
          <p:cNvGrpSpPr/>
          <p:nvPr/>
        </p:nvGrpSpPr>
        <p:grpSpPr>
          <a:xfrm>
            <a:off x="0" y="206820"/>
            <a:ext cx="16230600" cy="1216000"/>
            <a:chOff x="0" y="0"/>
            <a:chExt cx="4274726" cy="320263"/>
          </a:xfrm>
        </p:grpSpPr>
        <p:sp>
          <p:nvSpPr>
            <p:cNvPr id="3" name="Freeform 3"/>
            <p:cNvSpPr/>
            <p:nvPr/>
          </p:nvSpPr>
          <p:spPr>
            <a:xfrm>
              <a:off x="0" y="0"/>
              <a:ext cx="4274726" cy="320263"/>
            </a:xfrm>
            <a:custGeom>
              <a:avLst/>
              <a:gdLst/>
              <a:ahLst/>
              <a:cxnLst/>
              <a:rect l="l" t="t" r="r" b="b"/>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1">
              <a:gsLst>
                <a:gs pos="0">
                  <a:srgbClr val="112C16">
                    <a:alpha val="0"/>
                  </a:srgbClr>
                </a:gs>
                <a:gs pos="33333">
                  <a:srgbClr val="112C16">
                    <a:alpha val="100000"/>
                  </a:srgbClr>
                </a:gs>
                <a:gs pos="66667">
                  <a:srgbClr val="112C16">
                    <a:alpha val="100000"/>
                  </a:srgbClr>
                </a:gs>
                <a:gs pos="100000">
                  <a:srgbClr val="112C16">
                    <a:alpha val="0"/>
                  </a:srgbClr>
                </a:gs>
              </a:gsLst>
              <a:lin ang="0"/>
            </a:gradFill>
          </p:spPr>
        </p:sp>
        <p:sp>
          <p:nvSpPr>
            <p:cNvPr id="4" name="TextBox 4"/>
            <p:cNvSpPr txBox="1"/>
            <p:nvPr/>
          </p:nvSpPr>
          <p:spPr>
            <a:xfrm>
              <a:off x="0" y="-38100"/>
              <a:ext cx="4274726" cy="35836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28600" y="2688018"/>
            <a:ext cx="11963400" cy="7256082"/>
            <a:chOff x="0" y="0"/>
            <a:chExt cx="2602211" cy="1171138"/>
          </a:xfrm>
        </p:grpSpPr>
        <p:sp>
          <p:nvSpPr>
            <p:cNvPr id="6" name="Freeform 6"/>
            <p:cNvSpPr/>
            <p:nvPr/>
          </p:nvSpPr>
          <p:spPr>
            <a:xfrm>
              <a:off x="0" y="0"/>
              <a:ext cx="2602211" cy="1171138"/>
            </a:xfrm>
            <a:custGeom>
              <a:avLst/>
              <a:gdLst/>
              <a:ahLst/>
              <a:cxnLst/>
              <a:rect l="l" t="t" r="r" b="b"/>
              <a:pathLst>
                <a:path w="2602211" h="1171138">
                  <a:moveTo>
                    <a:pt x="20373" y="0"/>
                  </a:moveTo>
                  <a:lnTo>
                    <a:pt x="2581838" y="0"/>
                  </a:lnTo>
                  <a:cubicBezTo>
                    <a:pt x="2593090" y="0"/>
                    <a:pt x="2602211" y="9121"/>
                    <a:pt x="2602211" y="20373"/>
                  </a:cubicBezTo>
                  <a:lnTo>
                    <a:pt x="2602211" y="1150766"/>
                  </a:lnTo>
                  <a:cubicBezTo>
                    <a:pt x="2602211" y="1156169"/>
                    <a:pt x="2600065" y="1161351"/>
                    <a:pt x="2596244" y="1165171"/>
                  </a:cubicBezTo>
                  <a:cubicBezTo>
                    <a:pt x="2592423" y="1168992"/>
                    <a:pt x="2587241" y="1171138"/>
                    <a:pt x="2581838" y="1171138"/>
                  </a:cubicBezTo>
                  <a:lnTo>
                    <a:pt x="20373" y="1171138"/>
                  </a:lnTo>
                  <a:cubicBezTo>
                    <a:pt x="14970" y="1171138"/>
                    <a:pt x="9788" y="1168992"/>
                    <a:pt x="5967" y="1165171"/>
                  </a:cubicBezTo>
                  <a:cubicBezTo>
                    <a:pt x="2146" y="1161351"/>
                    <a:pt x="0" y="1156169"/>
                    <a:pt x="0" y="1150766"/>
                  </a:cubicBezTo>
                  <a:lnTo>
                    <a:pt x="0" y="20373"/>
                  </a:lnTo>
                  <a:cubicBezTo>
                    <a:pt x="0" y="14970"/>
                    <a:pt x="2146" y="9788"/>
                    <a:pt x="5967" y="5967"/>
                  </a:cubicBezTo>
                  <a:cubicBezTo>
                    <a:pt x="9788" y="2146"/>
                    <a:pt x="14970" y="0"/>
                    <a:pt x="20373" y="0"/>
                  </a:cubicBezTo>
                  <a:close/>
                </a:path>
              </a:pathLst>
            </a:custGeom>
            <a:ln w="38100" cap="rnd">
              <a:solidFill>
                <a:srgbClr val="112C16"/>
              </a:solidFill>
              <a:prstDash val="solid"/>
              <a:round/>
            </a:ln>
          </p:spPr>
        </p:sp>
        <p:sp>
          <p:nvSpPr>
            <p:cNvPr id="7" name="TextBox 7"/>
            <p:cNvSpPr txBox="1"/>
            <p:nvPr/>
          </p:nvSpPr>
          <p:spPr>
            <a:xfrm>
              <a:off x="0" y="-57150"/>
              <a:ext cx="2602211" cy="1228288"/>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13792200" y="5160668"/>
            <a:ext cx="1752600" cy="1811631"/>
          </a:xfrm>
          <a:custGeom>
            <a:avLst/>
            <a:gdLst/>
            <a:ahLst/>
            <a:cxnLst/>
            <a:rect l="l" t="t" r="r" b="b"/>
            <a:pathLst>
              <a:path w="927480" h="1009820">
                <a:moveTo>
                  <a:pt x="0" y="0"/>
                </a:moveTo>
                <a:lnTo>
                  <a:pt x="927480" y="0"/>
                </a:lnTo>
                <a:lnTo>
                  <a:pt x="927480" y="1009821"/>
                </a:lnTo>
                <a:lnTo>
                  <a:pt x="0" y="1009821"/>
                </a:lnTo>
                <a:lnTo>
                  <a:pt x="0" y="0"/>
                </a:lnTo>
                <a:close/>
              </a:path>
            </a:pathLst>
          </a:custGeom>
          <a:blipFill>
            <a:blip r:embed="rId2">
              <a:extLst>
                <a:ext uri="{96DAC541-7B7A-43D3-8B79-37D633B846F1}">
                  <asvg:svgBlip xmlns:asvg="http://schemas.microsoft.com/office/drawing/2016/SVG/main" xmlns="" r:embed="rId3"/>
                </a:ext>
              </a:extLst>
            </a:blip>
            <a:stretch>
              <a:fillRect r="-1949"/>
            </a:stretch>
          </a:blipFill>
        </p:spPr>
      </p:sp>
      <p:sp>
        <p:nvSpPr>
          <p:cNvPr id="9" name="TextBox 9"/>
          <p:cNvSpPr txBox="1"/>
          <p:nvPr/>
        </p:nvSpPr>
        <p:spPr>
          <a:xfrm>
            <a:off x="2819400" y="323110"/>
            <a:ext cx="9796234" cy="1094740"/>
          </a:xfrm>
          <a:prstGeom prst="rect">
            <a:avLst/>
          </a:prstGeom>
        </p:spPr>
        <p:txBody>
          <a:bodyPr lIns="0" tIns="0" rIns="0" bIns="0" rtlCol="0" anchor="t">
            <a:spAutoFit/>
          </a:bodyPr>
          <a:lstStyle/>
          <a:p>
            <a:pPr algn="ctr">
              <a:lnSpc>
                <a:spcPts val="8959"/>
              </a:lnSpc>
              <a:spcBef>
                <a:spcPct val="0"/>
              </a:spcBef>
            </a:pPr>
            <a:r>
              <a:rPr lang="en-US" sz="6399" dirty="0">
                <a:solidFill>
                  <a:srgbClr val="F1F0E7"/>
                </a:solidFill>
                <a:latin typeface="Anton"/>
                <a:ea typeface="Anton"/>
                <a:cs typeface="Anton"/>
                <a:sym typeface="Anton"/>
              </a:rPr>
              <a:t>Recommendations </a:t>
            </a:r>
          </a:p>
        </p:txBody>
      </p:sp>
      <p:sp>
        <p:nvSpPr>
          <p:cNvPr id="10" name="TextBox 10"/>
          <p:cNvSpPr txBox="1"/>
          <p:nvPr/>
        </p:nvSpPr>
        <p:spPr>
          <a:xfrm>
            <a:off x="205408" y="3097745"/>
            <a:ext cx="11376992" cy="6501780"/>
          </a:xfrm>
          <a:prstGeom prst="rect">
            <a:avLst/>
          </a:prstGeom>
        </p:spPr>
        <p:txBody>
          <a:bodyPr wrap="square" lIns="0" tIns="0" rIns="0" bIns="0" rtlCol="0" anchor="t">
            <a:spAutoFit/>
          </a:bodyPr>
          <a:lstStyle/>
          <a:p>
            <a:pPr marL="594478" lvl="1" indent="-297239" algn="l">
              <a:lnSpc>
                <a:spcPts val="3854"/>
              </a:lnSpc>
              <a:buFont typeface="Arial"/>
              <a:buChar char="•"/>
            </a:pPr>
            <a:r>
              <a:rPr lang="en-US" sz="2753" dirty="0">
                <a:solidFill>
                  <a:srgbClr val="112C16"/>
                </a:solidFill>
                <a:latin typeface="Glacial Indifference"/>
                <a:ea typeface="Glacial Indifference"/>
                <a:cs typeface="Glacial Indifference"/>
                <a:sym typeface="Glacial Indifference"/>
              </a:rPr>
              <a:t>Expand talent acquisition and client engagement in Upwork and </a:t>
            </a:r>
            <a:r>
              <a:rPr lang="en-US" sz="2753" dirty="0" smtClean="0">
                <a:solidFill>
                  <a:srgbClr val="112C16"/>
                </a:solidFill>
                <a:latin typeface="Glacial Indifference"/>
                <a:ea typeface="Glacial Indifference"/>
                <a:cs typeface="Glacial Indifference"/>
                <a:sym typeface="Glacial Indifference"/>
              </a:rPr>
              <a:t>Fiverr</a:t>
            </a:r>
            <a:r>
              <a:rPr lang="en-US" sz="2753" dirty="0" smtClean="0">
                <a:solidFill>
                  <a:srgbClr val="112C16"/>
                </a:solidFill>
                <a:latin typeface="Glacial Indifference"/>
                <a:ea typeface="Glacial Indifference"/>
                <a:cs typeface="Glacial Indifference"/>
                <a:sym typeface="Glacial Indifference"/>
              </a:rPr>
              <a:t>.</a:t>
            </a:r>
          </a:p>
          <a:p>
            <a:pPr marL="1051678" lvl="2" indent="-297239">
              <a:lnSpc>
                <a:spcPts val="3854"/>
              </a:lnSpc>
              <a:buFont typeface="Arial"/>
              <a:buChar char="•"/>
            </a:pPr>
            <a:r>
              <a:rPr lang="en-US" sz="2753" dirty="0" smtClean="0">
                <a:solidFill>
                  <a:srgbClr val="112C16"/>
                </a:solidFill>
                <a:latin typeface="Glacial Indifference"/>
                <a:ea typeface="Glacial Indifference"/>
                <a:cs typeface="Glacial Indifference"/>
                <a:sym typeface="Glacial Indifference"/>
              </a:rPr>
              <a:t>High performing platforms</a:t>
            </a:r>
          </a:p>
          <a:p>
            <a:pPr marL="1051678" lvl="2" indent="-297239">
              <a:lnSpc>
                <a:spcPts val="3854"/>
              </a:lnSpc>
              <a:buFont typeface="Arial"/>
              <a:buChar char="•"/>
            </a:pPr>
            <a:r>
              <a:rPr lang="en-US" sz="2753" dirty="0" smtClean="0">
                <a:solidFill>
                  <a:srgbClr val="112C16"/>
                </a:solidFill>
                <a:latin typeface="Glacial Indifference"/>
                <a:ea typeface="Glacial Indifference"/>
                <a:cs typeface="Glacial Indifference"/>
                <a:sym typeface="Glacial Indifference"/>
              </a:rPr>
              <a:t>High job activity</a:t>
            </a:r>
          </a:p>
          <a:p>
            <a:pPr marL="754439" lvl="2">
              <a:lnSpc>
                <a:spcPts val="3854"/>
              </a:lnSpc>
            </a:pPr>
            <a:endParaRPr lang="en-US" sz="2753" dirty="0">
              <a:solidFill>
                <a:srgbClr val="112C16"/>
              </a:solidFill>
              <a:latin typeface="Glacial Indifference"/>
              <a:ea typeface="Glacial Indifference"/>
              <a:cs typeface="Glacial Indifference"/>
              <a:sym typeface="Glacial Indifference"/>
            </a:endParaRPr>
          </a:p>
          <a:p>
            <a:pPr marL="594478" lvl="1" indent="-297239" algn="l">
              <a:lnSpc>
                <a:spcPts val="3854"/>
              </a:lnSpc>
              <a:buFont typeface="Arial"/>
              <a:buChar char="•"/>
            </a:pPr>
            <a:r>
              <a:rPr lang="en-US" sz="2753" dirty="0">
                <a:solidFill>
                  <a:srgbClr val="112C16"/>
                </a:solidFill>
                <a:latin typeface="Glacial Indifference"/>
                <a:ea typeface="Glacial Indifference"/>
                <a:cs typeface="Glacial Indifference"/>
                <a:sym typeface="Glacial Indifference"/>
              </a:rPr>
              <a:t>Invest in skill development for web and app development in Australia and the Middle East</a:t>
            </a:r>
            <a:r>
              <a:rPr lang="en-US" sz="2753" dirty="0" smtClean="0">
                <a:solidFill>
                  <a:srgbClr val="112C16"/>
                </a:solidFill>
                <a:latin typeface="Glacial Indifference"/>
                <a:ea typeface="Glacial Indifference"/>
                <a:cs typeface="Glacial Indifference"/>
                <a:sym typeface="Glacial Indifference"/>
              </a:rPr>
              <a:t>.</a:t>
            </a:r>
          </a:p>
          <a:p>
            <a:pPr marL="1051678" lvl="2" indent="-297239">
              <a:lnSpc>
                <a:spcPts val="3854"/>
              </a:lnSpc>
              <a:buFont typeface="Arial"/>
              <a:buChar char="•"/>
            </a:pPr>
            <a:r>
              <a:rPr lang="en-US" sz="2753" dirty="0" smtClean="0">
                <a:solidFill>
                  <a:srgbClr val="112C16"/>
                </a:solidFill>
                <a:latin typeface="Glacial Indifference"/>
                <a:ea typeface="Glacial Indifference"/>
                <a:cs typeface="Glacial Indifference"/>
                <a:sym typeface="Glacial Indifference"/>
              </a:rPr>
              <a:t>To maximize market growth</a:t>
            </a:r>
          </a:p>
          <a:p>
            <a:pPr marL="754439" lvl="2">
              <a:lnSpc>
                <a:spcPts val="3854"/>
              </a:lnSpc>
            </a:pPr>
            <a:endParaRPr lang="en-US" sz="2753" dirty="0">
              <a:solidFill>
                <a:srgbClr val="112C16"/>
              </a:solidFill>
              <a:latin typeface="Glacial Indifference"/>
              <a:ea typeface="Glacial Indifference"/>
              <a:cs typeface="Glacial Indifference"/>
              <a:sym typeface="Glacial Indifference"/>
            </a:endParaRPr>
          </a:p>
          <a:p>
            <a:pPr marL="594478" lvl="1" indent="-297239" algn="l">
              <a:lnSpc>
                <a:spcPts val="3854"/>
              </a:lnSpc>
              <a:buFont typeface="Arial"/>
              <a:buChar char="•"/>
            </a:pPr>
            <a:r>
              <a:rPr lang="en-US" sz="2753" dirty="0">
                <a:solidFill>
                  <a:srgbClr val="112C16"/>
                </a:solidFill>
                <a:latin typeface="Glacial Indifference"/>
                <a:ea typeface="Glacial Indifference"/>
                <a:cs typeface="Glacial Indifference"/>
                <a:sym typeface="Glacial Indifference"/>
              </a:rPr>
              <a:t>Invest in app development, customer support, and graphic design</a:t>
            </a:r>
            <a:r>
              <a:rPr lang="en-US" sz="2753" dirty="0" smtClean="0">
                <a:solidFill>
                  <a:srgbClr val="112C16"/>
                </a:solidFill>
                <a:latin typeface="Glacial Indifference"/>
                <a:ea typeface="Glacial Indifference"/>
                <a:cs typeface="Glacial Indifference"/>
                <a:sym typeface="Glacial Indifference"/>
              </a:rPr>
              <a:t>.</a:t>
            </a:r>
          </a:p>
          <a:p>
            <a:pPr marL="1051678" lvl="2" indent="-297239">
              <a:lnSpc>
                <a:spcPts val="3854"/>
              </a:lnSpc>
              <a:buFont typeface="Arial"/>
              <a:buChar char="•"/>
            </a:pPr>
            <a:r>
              <a:rPr lang="en-US" sz="2753" dirty="0" smtClean="0">
                <a:solidFill>
                  <a:srgbClr val="112C16"/>
                </a:solidFill>
                <a:latin typeface="Glacial Indifference"/>
                <a:ea typeface="Glacial Indifference"/>
                <a:cs typeface="Glacial Indifference"/>
                <a:sym typeface="Glacial Indifference"/>
              </a:rPr>
              <a:t>High demand and high earning job categories</a:t>
            </a:r>
          </a:p>
          <a:p>
            <a:pPr marL="754439" lvl="2">
              <a:lnSpc>
                <a:spcPts val="3854"/>
              </a:lnSpc>
            </a:pPr>
            <a:endParaRPr lang="en-US" sz="2753" dirty="0" smtClean="0">
              <a:solidFill>
                <a:srgbClr val="112C16"/>
              </a:solidFill>
              <a:latin typeface="Glacial Indifference"/>
              <a:ea typeface="Glacial Indifference"/>
              <a:cs typeface="Glacial Indifference"/>
              <a:sym typeface="Glacial Indifference"/>
            </a:endParaRPr>
          </a:p>
          <a:p>
            <a:pPr marL="594478" lvl="1" indent="-297239" algn="l">
              <a:lnSpc>
                <a:spcPts val="3854"/>
              </a:lnSpc>
              <a:buFont typeface="Arial"/>
              <a:buChar char="•"/>
            </a:pPr>
            <a:r>
              <a:rPr lang="en-US" sz="2753" dirty="0" smtClean="0">
                <a:solidFill>
                  <a:srgbClr val="112C16"/>
                </a:solidFill>
                <a:latin typeface="Glacial Indifference"/>
                <a:ea typeface="Glacial Indifference"/>
                <a:cs typeface="Glacial Indifference"/>
                <a:sym typeface="Glacial Indifference"/>
              </a:rPr>
              <a:t>Improve freelancer performance </a:t>
            </a:r>
            <a:r>
              <a:rPr lang="en-US" sz="2753" dirty="0" smtClean="0">
                <a:solidFill>
                  <a:srgbClr val="112C16"/>
                </a:solidFill>
                <a:latin typeface="Glacial Indifference"/>
                <a:ea typeface="Glacial Indifference"/>
                <a:cs typeface="Glacial Indifference"/>
                <a:sym typeface="Glacial Indifference"/>
              </a:rPr>
              <a:t>metrics.</a:t>
            </a:r>
            <a:endParaRPr lang="en-US" sz="2753" dirty="0">
              <a:solidFill>
                <a:srgbClr val="112C16"/>
              </a:solidFill>
              <a:latin typeface="Glacial Indifference"/>
              <a:ea typeface="Glacial Indifference"/>
              <a:cs typeface="Glacial Indifference"/>
              <a:sym typeface="Glacial Indifference"/>
            </a:endParaRPr>
          </a:p>
          <a:p>
            <a:pPr marL="594478" lvl="1" indent="-297239" algn="l">
              <a:lnSpc>
                <a:spcPts val="3854"/>
              </a:lnSpc>
              <a:buFont typeface="Arial"/>
              <a:buChar char="•"/>
            </a:pPr>
            <a:endParaRPr lang="en-US" sz="2753" dirty="0">
              <a:solidFill>
                <a:srgbClr val="112C16"/>
              </a:solidFill>
              <a:latin typeface="Glacial Indifference"/>
              <a:ea typeface="Glacial Indifference"/>
              <a:cs typeface="Glacial Indifference"/>
              <a:sym typeface="Glacial Indifference"/>
            </a:endParaRPr>
          </a:p>
        </p:txBody>
      </p:sp>
      <p:sp>
        <p:nvSpPr>
          <p:cNvPr id="12" name="TextBox 11"/>
          <p:cNvSpPr txBox="1"/>
          <p:nvPr/>
        </p:nvSpPr>
        <p:spPr>
          <a:xfrm>
            <a:off x="914400" y="1834477"/>
            <a:ext cx="3456395" cy="523220"/>
          </a:xfrm>
          <a:prstGeom prst="rect">
            <a:avLst/>
          </a:prstGeom>
          <a:noFill/>
        </p:spPr>
        <p:txBody>
          <a:bodyPr wrap="none" rtlCol="0">
            <a:spAutoFit/>
          </a:bodyPr>
          <a:lstStyle/>
          <a:p>
            <a:r>
              <a:rPr lang="en-GB" sz="2800" dirty="0" smtClean="0">
                <a:latin typeface="Glacial Indifference" panose="020B0604020202020204" charset="0"/>
              </a:rPr>
              <a:t>Stakeholders should: </a:t>
            </a:r>
            <a:endParaRPr lang="en-GB" sz="2800" dirty="0">
              <a:latin typeface="Glacial Indifference" panose="020B0604020202020204" charset="0"/>
            </a:endParaRPr>
          </a:p>
        </p:txBody>
      </p:sp>
      <p:sp>
        <p:nvSpPr>
          <p:cNvPr id="13" name="Slide Number Placeholder 12"/>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2" name="Freeform 2"/>
          <p:cNvSpPr/>
          <p:nvPr/>
        </p:nvSpPr>
        <p:spPr>
          <a:xfrm>
            <a:off x="1051093" y="7442979"/>
            <a:ext cx="665065" cy="665065"/>
          </a:xfrm>
          <a:custGeom>
            <a:avLst/>
            <a:gdLst/>
            <a:ahLst/>
            <a:cxnLst/>
            <a:rect l="l" t="t" r="r" b="b"/>
            <a:pathLst>
              <a:path w="665065" h="665065">
                <a:moveTo>
                  <a:pt x="0" y="0"/>
                </a:moveTo>
                <a:lnTo>
                  <a:pt x="665064" y="0"/>
                </a:lnTo>
                <a:lnTo>
                  <a:pt x="665064" y="665065"/>
                </a:lnTo>
                <a:lnTo>
                  <a:pt x="0" y="6650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051093" y="6622683"/>
            <a:ext cx="665065" cy="665065"/>
          </a:xfrm>
          <a:custGeom>
            <a:avLst/>
            <a:gdLst/>
            <a:ahLst/>
            <a:cxnLst/>
            <a:rect l="l" t="t" r="r" b="b"/>
            <a:pathLst>
              <a:path w="665065" h="665065">
                <a:moveTo>
                  <a:pt x="0" y="0"/>
                </a:moveTo>
                <a:lnTo>
                  <a:pt x="665064" y="0"/>
                </a:lnTo>
                <a:lnTo>
                  <a:pt x="665064" y="665064"/>
                </a:lnTo>
                <a:lnTo>
                  <a:pt x="0" y="66506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028700" y="8267005"/>
            <a:ext cx="687457" cy="687457"/>
          </a:xfrm>
          <a:custGeom>
            <a:avLst/>
            <a:gdLst/>
            <a:ahLst/>
            <a:cxnLst/>
            <a:rect l="l" t="t" r="r" b="b"/>
            <a:pathLst>
              <a:path w="687457" h="687457">
                <a:moveTo>
                  <a:pt x="0" y="0"/>
                </a:moveTo>
                <a:lnTo>
                  <a:pt x="687457" y="0"/>
                </a:lnTo>
                <a:lnTo>
                  <a:pt x="687457" y="687458"/>
                </a:lnTo>
                <a:lnTo>
                  <a:pt x="0" y="68745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5" name="Freeform 5"/>
          <p:cNvSpPr/>
          <p:nvPr/>
        </p:nvSpPr>
        <p:spPr>
          <a:xfrm flipH="1">
            <a:off x="14383000" y="-200768"/>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6" name="TextBox 6"/>
          <p:cNvSpPr txBox="1"/>
          <p:nvPr/>
        </p:nvSpPr>
        <p:spPr>
          <a:xfrm>
            <a:off x="1028700" y="1762049"/>
            <a:ext cx="10251325" cy="2486690"/>
          </a:xfrm>
          <a:prstGeom prst="rect">
            <a:avLst/>
          </a:prstGeom>
        </p:spPr>
        <p:txBody>
          <a:bodyPr lIns="0" tIns="0" rIns="0" bIns="0" rtlCol="0" anchor="t">
            <a:spAutoFit/>
          </a:bodyPr>
          <a:lstStyle/>
          <a:p>
            <a:pPr algn="l">
              <a:lnSpc>
                <a:spcPts val="20441"/>
              </a:lnSpc>
              <a:spcBef>
                <a:spcPct val="0"/>
              </a:spcBef>
            </a:pPr>
            <a:r>
              <a:rPr lang="en-US" sz="14600">
                <a:solidFill>
                  <a:srgbClr val="112C16"/>
                </a:solidFill>
                <a:latin typeface="Anton"/>
                <a:ea typeface="Anton"/>
                <a:cs typeface="Anton"/>
                <a:sym typeface="Anton"/>
              </a:rPr>
              <a:t>Thank You</a:t>
            </a:r>
          </a:p>
        </p:txBody>
      </p:sp>
      <p:sp>
        <p:nvSpPr>
          <p:cNvPr id="7" name="TextBox 7"/>
          <p:cNvSpPr txBox="1"/>
          <p:nvPr/>
        </p:nvSpPr>
        <p:spPr>
          <a:xfrm>
            <a:off x="1808078" y="8405378"/>
            <a:ext cx="4769043"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www.reallygreatsite.com</a:t>
            </a:r>
          </a:p>
        </p:txBody>
      </p:sp>
      <p:sp>
        <p:nvSpPr>
          <p:cNvPr id="8" name="TextBox 8"/>
          <p:cNvSpPr txBox="1"/>
          <p:nvPr/>
        </p:nvSpPr>
        <p:spPr>
          <a:xfrm>
            <a:off x="1808078" y="7632510"/>
            <a:ext cx="4769043"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hello@reallygreatsite.com</a:t>
            </a:r>
          </a:p>
        </p:txBody>
      </p:sp>
      <p:sp>
        <p:nvSpPr>
          <p:cNvPr id="9" name="TextBox 9"/>
          <p:cNvSpPr txBox="1"/>
          <p:nvPr/>
        </p:nvSpPr>
        <p:spPr>
          <a:xfrm>
            <a:off x="1808078" y="6756317"/>
            <a:ext cx="3561409" cy="421120"/>
          </a:xfrm>
          <a:prstGeom prst="rect">
            <a:avLst/>
          </a:prstGeom>
        </p:spPr>
        <p:txBody>
          <a:bodyPr lIns="0" tIns="0" rIns="0" bIns="0" rtlCol="0" anchor="t">
            <a:spAutoFit/>
          </a:bodyPr>
          <a:lstStyle/>
          <a:p>
            <a:pPr algn="l">
              <a:lnSpc>
                <a:spcPts val="3214"/>
              </a:lnSpc>
              <a:spcBef>
                <a:spcPct val="0"/>
              </a:spcBef>
            </a:pPr>
            <a:r>
              <a:rPr lang="en-US" sz="3003">
                <a:solidFill>
                  <a:srgbClr val="F1F0E7"/>
                </a:solidFill>
                <a:latin typeface="Glacial Indifference"/>
                <a:ea typeface="Glacial Indifference"/>
                <a:cs typeface="Glacial Indifference"/>
                <a:sym typeface="Glacial Indifference"/>
              </a:rPr>
              <a:t>@reallygreatsite</a:t>
            </a:r>
          </a:p>
        </p:txBody>
      </p:sp>
      <p:sp>
        <p:nvSpPr>
          <p:cNvPr id="10" name="TextBox 10"/>
          <p:cNvSpPr txBox="1"/>
          <p:nvPr/>
        </p:nvSpPr>
        <p:spPr>
          <a:xfrm>
            <a:off x="9043897" y="6825933"/>
            <a:ext cx="8215403" cy="1851533"/>
          </a:xfrm>
          <a:prstGeom prst="rect">
            <a:avLst/>
          </a:prstGeom>
        </p:spPr>
        <p:txBody>
          <a:bodyPr lIns="0" tIns="0" rIns="0" bIns="0" rtlCol="0" anchor="t">
            <a:spAutoFit/>
          </a:bodyPr>
          <a:lstStyle/>
          <a:p>
            <a:pPr algn="just">
              <a:lnSpc>
                <a:spcPts val="2940"/>
              </a:lnSpc>
            </a:pPr>
            <a:r>
              <a:rPr lang="en-US" sz="2100">
                <a:solidFill>
                  <a:srgbClr val="F1F0E7"/>
                </a:solidFill>
                <a:latin typeface="Glacial Indifference"/>
                <a:ea typeface="Glacial Indifference"/>
                <a:cs typeface="Glacial Indifference"/>
                <a:sym typeface="Glacial Indifference"/>
              </a:rPr>
              <a:t>Lorem Ipsum labore qui quis commodo et aliquip fugiat culpa dolore labore quis veniam proident velit do enim magna esse dolor aliqua nisi ex pariatur occaecat in in adipisicing reprehenderit fugiat nostrud tempor veniam magna eu voluptate proident pariatur excepteur quis amet proident veniam enim qui elit exercitation sint mollit amet officia </a:t>
            </a:r>
          </a:p>
        </p:txBody>
      </p:sp>
      <p:sp>
        <p:nvSpPr>
          <p:cNvPr id="11" name="TextBox 11"/>
          <p:cNvSpPr txBox="1"/>
          <p:nvPr/>
        </p:nvSpPr>
        <p:spPr>
          <a:xfrm>
            <a:off x="1028700" y="4267040"/>
            <a:ext cx="8115300" cy="415265"/>
          </a:xfrm>
          <a:prstGeom prst="rect">
            <a:avLst/>
          </a:prstGeom>
        </p:spPr>
        <p:txBody>
          <a:bodyPr lIns="0" tIns="0" rIns="0" bIns="0" rtlCol="0" anchor="t">
            <a:spAutoFit/>
          </a:bodyPr>
          <a:lstStyle/>
          <a:p>
            <a:pPr algn="l">
              <a:lnSpc>
                <a:spcPts val="3359"/>
              </a:lnSpc>
              <a:spcBef>
                <a:spcPct val="0"/>
              </a:spcBef>
            </a:pPr>
            <a:r>
              <a:rPr lang="en-US" sz="2400" spc="861">
                <a:solidFill>
                  <a:srgbClr val="000000"/>
                </a:solidFill>
                <a:latin typeface="Glacial Indifference"/>
                <a:ea typeface="Glacial Indifference"/>
                <a:cs typeface="Glacial Indifference"/>
                <a:sym typeface="Glacial Indifference"/>
              </a:rPr>
              <a:t>THANK YOU FOR YOUR ATTENTION</a:t>
            </a:r>
          </a:p>
        </p:txBody>
      </p:sp>
      <p:sp>
        <p:nvSpPr>
          <p:cNvPr id="12" name="Slide Number Placeholder 11"/>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Words>
  <Application>Microsoft Office PowerPoint</Application>
  <PresentationFormat>Custom</PresentationFormat>
  <Paragraphs>112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Anton</vt:lpstr>
      <vt:lpstr>Arial</vt:lpstr>
      <vt:lpstr>Glacial Indifference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the Gig Economy</dc:title>
  <cp:lastModifiedBy>David Nwoye</cp:lastModifiedBy>
  <cp:revision>26</cp:revision>
  <dcterms:created xsi:type="dcterms:W3CDTF">2006-08-16T00:00:00Z</dcterms:created>
  <dcterms:modified xsi:type="dcterms:W3CDTF">2026-03-31T15:43:57Z</dcterms:modified>
  <dc:identifier>DAHEfuTslSg</dc:identifier>
</cp:coreProperties>
</file>